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437" r:id="rId1"/>
  </p:sldMasterIdLst>
  <p:notesMasterIdLst>
    <p:notesMasterId r:id="rId48"/>
  </p:notesMasterIdLst>
  <p:sldIdLst>
    <p:sldId id="257" r:id="rId2"/>
    <p:sldId id="303" r:id="rId3"/>
    <p:sldId id="399" r:id="rId4"/>
    <p:sldId id="289" r:id="rId5"/>
    <p:sldId id="507" r:id="rId6"/>
    <p:sldId id="334" r:id="rId7"/>
    <p:sldId id="400" r:id="rId8"/>
    <p:sldId id="282" r:id="rId9"/>
    <p:sldId id="511" r:id="rId10"/>
    <p:sldId id="381" r:id="rId11"/>
    <p:sldId id="512" r:id="rId12"/>
    <p:sldId id="383" r:id="rId13"/>
    <p:sldId id="402" r:id="rId14"/>
    <p:sldId id="403" r:id="rId15"/>
    <p:sldId id="266" r:id="rId16"/>
    <p:sldId id="391" r:id="rId17"/>
    <p:sldId id="490" r:id="rId18"/>
    <p:sldId id="405" r:id="rId19"/>
    <p:sldId id="304" r:id="rId20"/>
    <p:sldId id="495" r:id="rId21"/>
    <p:sldId id="496" r:id="rId22"/>
    <p:sldId id="500" r:id="rId23"/>
    <p:sldId id="482" r:id="rId24"/>
    <p:sldId id="499" r:id="rId25"/>
    <p:sldId id="460" r:id="rId26"/>
    <p:sldId id="462" r:id="rId27"/>
    <p:sldId id="463" r:id="rId28"/>
    <p:sldId id="465" r:id="rId29"/>
    <p:sldId id="467" r:id="rId30"/>
    <p:sldId id="468" r:id="rId31"/>
    <p:sldId id="470" r:id="rId32"/>
    <p:sldId id="471" r:id="rId33"/>
    <p:sldId id="472" r:id="rId34"/>
    <p:sldId id="473" r:id="rId35"/>
    <p:sldId id="474" r:id="rId36"/>
    <p:sldId id="454" r:id="rId37"/>
    <p:sldId id="453" r:id="rId38"/>
    <p:sldId id="494" r:id="rId39"/>
    <p:sldId id="508" r:id="rId40"/>
    <p:sldId id="515" r:id="rId41"/>
    <p:sldId id="449" r:id="rId42"/>
    <p:sldId id="451" r:id="rId43"/>
    <p:sldId id="298" r:id="rId44"/>
    <p:sldId id="485" r:id="rId45"/>
    <p:sldId id="509" r:id="rId46"/>
    <p:sldId id="51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291" autoAdjust="0"/>
  </p:normalViewPr>
  <p:slideViewPr>
    <p:cSldViewPr snapToGrid="0">
      <p:cViewPr varScale="1">
        <p:scale>
          <a:sx n="72" d="100"/>
          <a:sy n="72" d="100"/>
        </p:scale>
        <p:origin x="7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CBEDD-D1FD-4334-B2FB-A7B5124EB653}" type="datetimeFigureOut">
              <a:rPr lang="en-IN" smtClean="0"/>
              <a:t>18-03-2026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1B3F53-27D7-4459-A937-C9981913498F}" type="slidenum">
              <a:rPr lang="en-IN" smtClean="0"/>
              <a:t>‹#›</a:t>
            </a:fld>
            <a:endParaRPr lang="en-IN"/>
          </a:p>
        </p:txBody>
      </p:sp>
    </p:spTree>
    <p:extLst>
      <p:ext uri="{BB962C8B-B14F-4D97-AF65-F5344CB8AC3E}">
        <p14:creationId xmlns:p14="http://schemas.microsoft.com/office/powerpoint/2010/main" val="117419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302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1B3F53-27D7-4459-A937-C9981913498F}" type="slidenum">
              <a:rPr lang="en-IN" smtClean="0"/>
              <a:t>41</a:t>
            </a:fld>
            <a:endParaRPr lang="en-IN"/>
          </a:p>
        </p:txBody>
      </p:sp>
    </p:spTree>
    <p:extLst>
      <p:ext uri="{BB962C8B-B14F-4D97-AF65-F5344CB8AC3E}">
        <p14:creationId xmlns:p14="http://schemas.microsoft.com/office/powerpoint/2010/main" val="2111017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02186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60657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3687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8661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91238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48891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227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5771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18227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08269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84533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27905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008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94071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293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9288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3/18/2026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70741134"/>
      </p:ext>
    </p:extLst>
  </p:cSld>
  <p:clrMap bg1="lt1" tx1="dk1" bg2="lt2" tx2="dk2" accent1="accent1" accent2="accent2" accent3="accent3" accent4="accent4" accent5="accent5" accent6="accent6" hlink="hlink" folHlink="folHlink"/>
  <p:sldLayoutIdLst>
    <p:sldLayoutId id="2147484438" r:id="rId1"/>
    <p:sldLayoutId id="2147484439" r:id="rId2"/>
    <p:sldLayoutId id="2147484440" r:id="rId3"/>
    <p:sldLayoutId id="2147484441" r:id="rId4"/>
    <p:sldLayoutId id="2147484442" r:id="rId5"/>
    <p:sldLayoutId id="2147484443" r:id="rId6"/>
    <p:sldLayoutId id="2147484444" r:id="rId7"/>
    <p:sldLayoutId id="2147484445" r:id="rId8"/>
    <p:sldLayoutId id="2147484446" r:id="rId9"/>
    <p:sldLayoutId id="2147484447" r:id="rId10"/>
    <p:sldLayoutId id="2147484448" r:id="rId11"/>
    <p:sldLayoutId id="2147484449" r:id="rId12"/>
    <p:sldLayoutId id="2147484450" r:id="rId13"/>
    <p:sldLayoutId id="2147484451" r:id="rId14"/>
    <p:sldLayoutId id="2147484452" r:id="rId15"/>
    <p:sldLayoutId id="214748445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hyperlink" Target="https://www.cureusjournals.com/articles/9841-deep-learning-based-nutritional-analysis-of-food-images-using-efficientnetb4-and-multilayer-perceptron" TargetMode="External"/><Relationship Id="rId3" Type="http://schemas.openxmlformats.org/officeDocument/2006/relationships/hyperlink" Target="https://doi.org/10.1016/j.foodchem.2022.133XXX" TargetMode="External"/><Relationship Id="rId7" Type="http://schemas.openxmlformats.org/officeDocument/2006/relationships/hyperlink" Target="https://pmc.ncbi.nlm.nih.gov/articles/PMC12252204" TargetMode="External"/><Relationship Id="rId2" Type="http://schemas.openxmlformats.org/officeDocument/2006/relationships/hyperlink" Target="https://pmc.ncbi.nlm.nih.gov/articles/PMC12828019" TargetMode="External"/><Relationship Id="rId1" Type="http://schemas.openxmlformats.org/officeDocument/2006/relationships/slideLayout" Target="../slideLayouts/slideLayout7.xml"/><Relationship Id="rId6" Type="http://schemas.openxmlformats.org/officeDocument/2006/relationships/hyperlink" Target="https://www.mdpi.com/2076-3417/15/14/7626" TargetMode="External"/><Relationship Id="rId5" Type="http://schemas.openxmlformats.org/officeDocument/2006/relationships/hyperlink" Target="https://doi.org/10.3390/app15147626" TargetMode="External"/><Relationship Id="rId4" Type="http://schemas.openxmlformats.org/officeDocument/2006/relationships/hyperlink" Target="https://www.sciencedirect.com/science/article/abs/pii/S0308814622012055"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irjweb.com/user_upload/AUTOMATED%20FOOD%20IMAGE%20CLASSIFICATION%20USING%20DEEP%20LEARNING%20APPROACH.pdf" TargetMode="External"/><Relationship Id="rId7" Type="http://schemas.openxmlformats.org/officeDocument/2006/relationships/hyperlink" Target="https://doi.org/10.18494/SAM4061" TargetMode="External"/><Relationship Id="rId2" Type="http://schemas.openxmlformats.org/officeDocument/2006/relationships/hyperlink" Target="https://ijresm.in/5.%20IJRESM240101013.pdf" TargetMode="External"/><Relationship Id="rId1" Type="http://schemas.openxmlformats.org/officeDocument/2006/relationships/slideLayout" Target="../slideLayouts/slideLayout7.xml"/><Relationship Id="rId6" Type="http://schemas.openxmlformats.org/officeDocument/2006/relationships/hyperlink" Target="https://www.sciencedirect.com/science/article/pii/S2161831323000935" TargetMode="External"/><Relationship Id="rId5" Type="http://schemas.openxmlformats.org/officeDocument/2006/relationships/hyperlink" Target="https://doi.org/10.1016/j.jand.2022.XX" TargetMode="External"/><Relationship Id="rId4" Type="http://schemas.openxmlformats.org/officeDocument/2006/relationships/hyperlink" Target="https://doi.org/10.3390/app12199733"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sciencedirect.com/science/article/abs/pii/S1047320325002469" TargetMode="External"/><Relationship Id="rId2" Type="http://schemas.openxmlformats.org/officeDocument/2006/relationships/hyperlink" Target="https://doi.org/10.1016/j.jvcir.2025.XX" TargetMode="External"/><Relationship Id="rId1" Type="http://schemas.openxmlformats.org/officeDocument/2006/relationships/slideLayout" Target="../slideLayouts/slideLayout7.xml"/><Relationship Id="rId4" Type="http://schemas.openxmlformats.org/officeDocument/2006/relationships/hyperlink" Target="https://www.irejournals.com/formatedpaper/1705602.pdf"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8183" y="2532344"/>
            <a:ext cx="10838986" cy="646331"/>
          </a:xfrm>
          <a:prstGeom prst="rect">
            <a:avLst/>
          </a:prstGeom>
        </p:spPr>
        <p:txBody>
          <a:bodyPr wrap="square">
            <a:spAutoFit/>
          </a:bodyPr>
          <a:lstStyle/>
          <a:p>
            <a:pPr algn="ctr"/>
            <a:r>
              <a:rPr lang="en-US" sz="3600" b="1" dirty="0" err="1">
                <a:latin typeface="Times New Roman" panose="02020603050405020304" pitchFamily="18" charset="0"/>
                <a:ea typeface="Calibri" panose="020F0502020204030204" pitchFamily="34" charset="0"/>
                <a:cs typeface="Times New Roman" panose="02020603050405020304" pitchFamily="18" charset="0"/>
              </a:rPr>
              <a:t>Nutribot</a:t>
            </a:r>
            <a:r>
              <a:rPr lang="en-US" sz="3600" b="1" dirty="0">
                <a:latin typeface="Times New Roman" panose="02020603050405020304" pitchFamily="18" charset="0"/>
                <a:ea typeface="Calibri" panose="020F0502020204030204" pitchFamily="34" charset="0"/>
                <a:cs typeface="Times New Roman" panose="02020603050405020304" pitchFamily="18" charset="0"/>
              </a:rPr>
              <a:t> assistant by using deep learning models</a:t>
            </a:r>
          </a:p>
        </p:txBody>
      </p:sp>
    </p:spTree>
    <p:extLst>
      <p:ext uri="{BB962C8B-B14F-4D97-AF65-F5344CB8AC3E}">
        <p14:creationId xmlns:p14="http://schemas.microsoft.com/office/powerpoint/2010/main" val="378094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7D6F-FBC0-0AE2-734A-39B5AE210BD2}"/>
              </a:ext>
            </a:extLst>
          </p:cNvPr>
          <p:cNvSpPr txBox="1"/>
          <p:nvPr/>
        </p:nvSpPr>
        <p:spPr>
          <a:xfrm>
            <a:off x="5233182" y="383163"/>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tx1"/>
                </a:solidFill>
                <a:latin typeface="Times New Roman" panose="02020603050405020304" pitchFamily="18" charset="0"/>
                <a:cs typeface="Times New Roman" panose="02020603050405020304" pitchFamily="18" charset="0"/>
              </a:rPr>
              <a:t>INDEX</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66356" y="1415408"/>
            <a:ext cx="3392557"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Project Description</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Significant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Proposed System</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Architecture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Resource Requirements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Research Gap analysis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Review</a:t>
            </a:r>
          </a:p>
          <a:p>
            <a:pPr marL="457189" indent="-457189" algn="just">
              <a:lnSpc>
                <a:spcPct val="15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457189" indent="-457189" algn="just">
              <a:lnSpc>
                <a:spcPct val="150000"/>
              </a:lnSpc>
              <a:buFont typeface="Wingdings" panose="05000000000000000000" pitchFamily="2" charset="2"/>
              <a:buChar char="v"/>
            </a:pPr>
            <a:endParaRPr lang="en-IN" sz="1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43003" y="1246595"/>
            <a:ext cx="4970896"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Implementation</a:t>
            </a:r>
          </a:p>
          <a:p>
            <a:pPr algn="just">
              <a:lnSpc>
                <a:spcPct val="150000"/>
              </a:lnSpc>
            </a:pPr>
            <a:r>
              <a:rPr lang="en-US" sz="1600" dirty="0">
                <a:latin typeface="Times New Roman" panose="02020603050405020304" pitchFamily="18" charset="0"/>
                <a:cs typeface="Times New Roman" panose="02020603050405020304" pitchFamily="18" charset="0"/>
              </a:rPr>
              <a:t>	1. Data Description</a:t>
            </a:r>
          </a:p>
          <a:p>
            <a:pPr algn="just">
              <a:lnSpc>
                <a:spcPct val="150000"/>
              </a:lnSpc>
            </a:pPr>
            <a:r>
              <a:rPr lang="en-US" sz="1600" dirty="0">
                <a:latin typeface="Times New Roman" panose="02020603050405020304" pitchFamily="18" charset="0"/>
                <a:cs typeface="Times New Roman" panose="02020603050405020304" pitchFamily="18" charset="0"/>
              </a:rPr>
              <a:t>	2. Preprocessing steps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working Process</a:t>
            </a:r>
          </a:p>
          <a:p>
            <a:pPr algn="just">
              <a:lnSpc>
                <a:spcPct val="150000"/>
              </a:lnSpc>
            </a:pPr>
            <a:r>
              <a:rPr lang="en-US" sz="1600" dirty="0">
                <a:latin typeface="Times New Roman" panose="02020603050405020304" pitchFamily="18" charset="0"/>
                <a:cs typeface="Times New Roman" panose="02020603050405020304" pitchFamily="18" charset="0"/>
              </a:rPr>
              <a:t>	3. Results from Algorithm</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UML’s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Output Screens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Conclusion</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Future Scope</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75970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162" y="969963"/>
            <a:ext cx="10595675" cy="544405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aims to develop a deep learning-based assistant, </a:t>
            </a:r>
            <a:r>
              <a:rPr lang="en-US" dirty="0" err="1">
                <a:latin typeface="Times New Roman" panose="02020603050405020304" pitchFamily="18" charset="0"/>
                <a:cs typeface="Times New Roman" panose="02020603050405020304" pitchFamily="18" charset="0"/>
              </a:rPr>
              <a:t>Nutribot</a:t>
            </a:r>
            <a:r>
              <a:rPr lang="en-US" dirty="0">
                <a:latin typeface="Times New Roman" panose="02020603050405020304" pitchFamily="18" charset="0"/>
                <a:cs typeface="Times New Roman" panose="02020603050405020304" pitchFamily="18" charset="0"/>
              </a:rPr>
              <a:t>, for food classification and nutritional information prediction. The </a:t>
            </a:r>
            <a:r>
              <a:rPr lang="en-US" dirty="0" err="1">
                <a:latin typeface="Times New Roman" panose="02020603050405020304" pitchFamily="18" charset="0"/>
                <a:cs typeface="Times New Roman" panose="02020603050405020304" pitchFamily="18" charset="0"/>
              </a:rPr>
              <a:t>Nutribot</a:t>
            </a:r>
            <a:r>
              <a:rPr lang="en-US" dirty="0">
                <a:latin typeface="Times New Roman" panose="02020603050405020304" pitchFamily="18" charset="0"/>
                <a:cs typeface="Times New Roman" panose="02020603050405020304" pitchFamily="18" charset="0"/>
              </a:rPr>
              <a:t> assists users by classifying food items into predefined categories such as "Apple Pie," "Cannoli," "Cheese Plate," "Cheesecake," "Chicken Wings," "Chocolate Cake," "Deviled Eggs," "Donuts," "French Fries," "Frozen Yogurt," "Ice Cream," and "Macarons." To achieve this, deep learning models, including a custom CNN,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and VGG16, were implemented for feature extraction and classification tasks. The models were trained to predict nutritional information for each food item, such as "452 Calories/100g, Fat 22.85g, Carbs 47g, Protein 5.7g." The solution is integrated into a user-friendly web application developed using Flask, HTML, CSS, and JavaScript, which allows users to upload images of food and receive detailed nutritional breakdowns. This system can aid in health management by providing accurate nutritional information, promoting healthier food choices, and assisting individuals in tracking their dietary intake.</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Keywords: Food Classification, Deep Learning, Custom CNN,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VGG16, Nutritional Information, Flask, Food Recognition, Health Management, Diet Tracking.</a:t>
            </a:r>
          </a:p>
        </p:txBody>
      </p:sp>
      <p:sp>
        <p:nvSpPr>
          <p:cNvPr id="3" name="Rectangle 2"/>
          <p:cNvSpPr/>
          <p:nvPr/>
        </p:nvSpPr>
        <p:spPr>
          <a:xfrm>
            <a:off x="4578827" y="443983"/>
            <a:ext cx="3158172" cy="523220"/>
          </a:xfrm>
          <a:prstGeom prst="rect">
            <a:avLst/>
          </a:prstGeom>
        </p:spPr>
        <p:txBody>
          <a:bodyPr wrap="none">
            <a:spAutoFit/>
          </a:bodyPr>
          <a:lstStyle/>
          <a:p>
            <a:r>
              <a:rPr lang="en-GB" sz="2800" b="1" dirty="0">
                <a:latin typeface="Times New Roman" panose="02020603050405020304" pitchFamily="18" charset="0"/>
                <a:cs typeface="Times New Roman" panose="02020603050405020304" pitchFamily="18" charset="0"/>
              </a:rPr>
              <a:t>Project Description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38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E96F-BAC6-6AE1-E215-92965F1F2D5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598A542-D535-BB7F-737F-7E9B5F5453B7}"/>
              </a:ext>
            </a:extLst>
          </p:cNvPr>
          <p:cNvSpPr txBox="1"/>
          <p:nvPr/>
        </p:nvSpPr>
        <p:spPr>
          <a:xfrm>
            <a:off x="1464936" y="3933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BD8DF1C2-733B-404D-11CA-B843215745CD}"/>
              </a:ext>
            </a:extLst>
          </p:cNvPr>
          <p:cNvSpPr txBox="1"/>
          <p:nvPr/>
        </p:nvSpPr>
        <p:spPr>
          <a:xfrm>
            <a:off x="969023" y="1206372"/>
            <a:ext cx="10479744" cy="4445256"/>
          </a:xfrm>
          <a:prstGeom prst="rect">
            <a:avLst/>
          </a:prstGeom>
          <a:noFill/>
        </p:spPr>
        <p:txBody>
          <a:bodyPr wrap="square" rtlCol="0">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In today’s world, maintaining a balanced diet is increasingly challenging, especially with the rising consumption of processed and fast foods. Manual tracking of food intake and its nutritional content can be a time-consuming and error-prone process. This project addresses the problem by automating the food classification and nutritional analysis process using deep learning models. The proposed system will help users identify food items based on images and provide an accurate breakdown of nutritional information such as calories, fats, carbs, and protein, simplifying the task of health-conscious individuals and assisting in better dietary management. By leveraging deep learning techniques, the project seeks to improve accuracy, efficiency, and scalability in nutritional analysis.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041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E96F-BAC6-6AE1-E215-92965F1F2D5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598A542-D535-BB7F-737F-7E9B5F5453B7}"/>
              </a:ext>
            </a:extLst>
          </p:cNvPr>
          <p:cNvSpPr txBox="1"/>
          <p:nvPr/>
        </p:nvSpPr>
        <p:spPr>
          <a:xfrm>
            <a:off x="1464936" y="3933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BD8DF1C2-733B-404D-11CA-B843215745CD}"/>
              </a:ext>
            </a:extLst>
          </p:cNvPr>
          <p:cNvSpPr txBox="1"/>
          <p:nvPr/>
        </p:nvSpPr>
        <p:spPr>
          <a:xfrm>
            <a:off x="856128" y="1418407"/>
            <a:ext cx="10479744" cy="4999254"/>
          </a:xfrm>
          <a:prstGeom prst="rect">
            <a:avLst/>
          </a:prstGeom>
          <a:noFill/>
        </p:spPr>
        <p:txBody>
          <a:bodyPr wrap="square" rtlCol="0">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primary objective of this project is to develop an automated system, </a:t>
            </a:r>
            <a:r>
              <a:rPr lang="en-US" dirty="0" err="1">
                <a:latin typeface="Times New Roman" panose="02020603050405020304" pitchFamily="18" charset="0"/>
                <a:ea typeface="Calibri" panose="020F0502020204030204" pitchFamily="34" charset="0"/>
                <a:cs typeface="Times New Roman" panose="02020603050405020304" pitchFamily="18" charset="0"/>
              </a:rPr>
              <a:t>Nutribot</a:t>
            </a:r>
            <a:r>
              <a:rPr lang="en-US" dirty="0">
                <a:latin typeface="Times New Roman" panose="02020603050405020304" pitchFamily="18" charset="0"/>
                <a:ea typeface="Calibri" panose="020F0502020204030204" pitchFamily="34" charset="0"/>
                <a:cs typeface="Times New Roman" panose="02020603050405020304" pitchFamily="18" charset="0"/>
              </a:rPr>
              <a:t>, that predicts food items and provides detailed nutritional information using deep learning models such as Custom CNN, </a:t>
            </a:r>
            <a:r>
              <a:rPr lang="en-US" dirty="0" err="1">
                <a:latin typeface="Times New Roman" panose="02020603050405020304" pitchFamily="18" charset="0"/>
                <a:ea typeface="Calibri" panose="020F0502020204030204" pitchFamily="34" charset="0"/>
                <a:cs typeface="Times New Roman" panose="02020603050405020304" pitchFamily="18" charset="0"/>
              </a:rPr>
              <a:t>SqueezeNet</a:t>
            </a:r>
            <a:r>
              <a:rPr lang="en-US" dirty="0">
                <a:latin typeface="Times New Roman" panose="02020603050405020304" pitchFamily="18" charset="0"/>
                <a:ea typeface="Calibri" panose="020F0502020204030204" pitchFamily="34" charset="0"/>
                <a:cs typeface="Times New Roman" panose="02020603050405020304" pitchFamily="18" charset="0"/>
              </a:rPr>
              <a:t>, and VGG16. The system will classify food images into categories like "Apple Pie," "Cannoli," "Cheese Plate," "Cheesecake," "Chicken Wings," "Chocolate Cake," "Deviled Eggs," "Donuts," "French Fries," "Frozen Yogurt," "Ice Cream," and "Macarons." Additionally, the system will provide nutritional data such as calories, fat, carbs, and protein content for each food item. The goal is to build an efficient, user-friendly platform for easy dietary management and health tracking. A web application developed using Flask, HTML, CSS, and JavaScript will allow users to upload food images, which will be classified into respective food categories, and nutritional information will be displayed.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3061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3FB8-2596-7773-87BB-A9E8EE619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89D618-AD01-D562-FAFC-45225F71F13A}"/>
              </a:ext>
            </a:extLst>
          </p:cNvPr>
          <p:cNvSpPr/>
          <p:nvPr/>
        </p:nvSpPr>
        <p:spPr>
          <a:xfrm>
            <a:off x="1457739" y="1813271"/>
            <a:ext cx="9037982" cy="3464410"/>
          </a:xfrm>
          <a:prstGeom prst="rect">
            <a:avLst/>
          </a:prstGeom>
        </p:spPr>
        <p:txBody>
          <a:bodyPr wrap="square">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The scope of this project is to create an automated deep learning-based system for classifying food images and providing nutritional information. The system will be trained using a dataset consisting of food images belonging to various categories such as "Apple Pie," "Cheesecake," "Chicken Wings," and more. The project aims to offer a user-friendly web application where users can upload food images and receive detailed nutritional information like calories, fats, carbs, and proteins per 100 grams of the food item. The system will be scalable to handle various food categories, and future improvements can include expanding the dataset to cover more food items and refining the model to enhance its prediction accuracy</a:t>
            </a:r>
          </a:p>
        </p:txBody>
      </p:sp>
      <p:sp>
        <p:nvSpPr>
          <p:cNvPr id="3" name="Title 1">
            <a:extLst>
              <a:ext uri="{FF2B5EF4-FFF2-40B4-BE49-F238E27FC236}">
                <a16:creationId xmlns:a16="http://schemas.microsoft.com/office/drawing/2014/main" id="{5760BD58-A571-04E9-796B-FA359361B4F2}"/>
              </a:ext>
            </a:extLst>
          </p:cNvPr>
          <p:cNvSpPr txBox="1"/>
          <p:nvPr/>
        </p:nvSpPr>
        <p:spPr>
          <a:xfrm>
            <a:off x="1153162" y="137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961955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1727" y="315396"/>
            <a:ext cx="2686310" cy="523220"/>
          </a:xfrm>
          <a:prstGeom prst="rect">
            <a:avLst/>
          </a:prstGeom>
        </p:spPr>
        <p:txBody>
          <a:bodyPr wrap="square">
            <a:spAutoFit/>
          </a:bodyPr>
          <a:lstStyle/>
          <a:p>
            <a:r>
              <a:rPr lang="en-GB" sz="2800" b="1" dirty="0">
                <a:latin typeface="Times New Roman" panose="02020603050405020304" pitchFamily="18" charset="0"/>
                <a:cs typeface="Times New Roman" panose="02020603050405020304" pitchFamily="18" charset="0"/>
              </a:rPr>
              <a:t>SIGNIFICANT</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481421" y="1188963"/>
            <a:ext cx="8666922" cy="4480073"/>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Custom CNN model demonstrated robust performance in food classification, accurately predicting most categories with a few misclassifications primarily due to similarities in visual features among certain food items. The model effectively identified items like Cannoli and Macarons with high precision, achieving solid accuracy for both categories. Despite some misclassifications between similar food items such as Cheese Plate and Cheesecake, the model overall displayed high precision and recall across all food categories, indicating reliable predictions. The confusion matrix shows that the model can handle complex food types with different visual characteristics, offering consistent predictions in categories like Chicken Wings and Ice Cream. While there were occasional overlaps, particularly with foods like Donuts and French Fries, these errors highlight the challenge of distinguishing visually similar food items. This demonstrates that the Custom CNN model is effective for real-time food classification and nutritional analysis, contributing valuable insights for dietary management applications</a:t>
            </a:r>
          </a:p>
        </p:txBody>
      </p:sp>
    </p:spTree>
    <p:extLst>
      <p:ext uri="{BB962C8B-B14F-4D97-AF65-F5344CB8AC3E}">
        <p14:creationId xmlns:p14="http://schemas.microsoft.com/office/powerpoint/2010/main" val="209367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809" y="1448869"/>
            <a:ext cx="9473784" cy="4439933"/>
          </a:xfrm>
          <a:prstGeom prst="rect">
            <a:avLst/>
          </a:prstGeom>
        </p:spPr>
        <p:txBody>
          <a:bodyPr wrap="square">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Existing systems for food classification and nutritional analysis often rely on traditional methods like manual food logging and basic image recognition techniques. These systems may employ simple algorithms or image processing techniques to classify food items, but they often suffer from limitations in accuracy and scalability. Traditional methods often rely on user input or manual inspection, which can be time-consuming and prone to errors. Although some systems incorporate machine learning models for food categorization, they typically lack the advanced capabilities of modern deep learning techniques. Many of these systems also fail to provide real-time nutritional information and are not optimized for large-scale applications or diverse food datasets.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4342953" y="134030"/>
            <a:ext cx="3506088"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14271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7558" y="713613"/>
            <a:ext cx="9473784" cy="561949"/>
          </a:xfrm>
          <a:prstGeom prst="rect">
            <a:avLst/>
          </a:prstGeom>
        </p:spPr>
        <p:txBody>
          <a:bodyPr wrap="square">
            <a:spAutoFit/>
          </a:bodyPr>
          <a:lstStyle/>
          <a:p>
            <a:pPr algn="just">
              <a:lnSpc>
                <a:spcPct val="20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DIS ADVANTAGES:</a:t>
            </a:r>
          </a:p>
        </p:txBody>
      </p:sp>
      <p:sp>
        <p:nvSpPr>
          <p:cNvPr id="3" name="Rectangle 2"/>
          <p:cNvSpPr/>
          <p:nvPr/>
        </p:nvSpPr>
        <p:spPr>
          <a:xfrm>
            <a:off x="4342953" y="134030"/>
            <a:ext cx="3506088"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EXISTING SYSTEM</a:t>
            </a:r>
          </a:p>
        </p:txBody>
      </p:sp>
      <p:sp>
        <p:nvSpPr>
          <p:cNvPr id="7" name="Rectangle 4">
            <a:extLst>
              <a:ext uri="{FF2B5EF4-FFF2-40B4-BE49-F238E27FC236}">
                <a16:creationId xmlns:a16="http://schemas.microsoft.com/office/drawing/2014/main" id="{88FD0A9F-20D2-454B-A826-793C8D4165F9}"/>
              </a:ext>
            </a:extLst>
          </p:cNvPr>
          <p:cNvSpPr>
            <a:spLocks noChangeArrowheads="1"/>
          </p:cNvSpPr>
          <p:nvPr/>
        </p:nvSpPr>
        <p:spPr bwMode="auto">
          <a:xfrm rot="10800000" flipV="1">
            <a:off x="1067558" y="1374820"/>
            <a:ext cx="9375150"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Limited accuracy in classification: Traditional image recognition models often struggle with subtle distinctions between similar food items, leading to lower classification accuracy.</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Slow and manual processes: Food classification typically involves labor-intensive processes that require human input for data collection, classification, and analysis, which can be time-consuming.</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Inability to handle large datasets: Existing systems are often not designed to scale effectively with large and diverse food datasets, limiting their usefulness in real-world applications.</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Lack of real-time predictions: Many existing systems offer batch processing of food images, delaying the provision of nutritional information and hindering immediate health tracking.</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Dependency on manual data entry: Existing systems often require manual input from users, which can lead to inconsistencies, human errors, and a lack of efficiency in the overall process.</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Limited adaptability: Current systems struggle to adapt to new food items or changes in dietary trends, making it difficult to update or expand their classification capabilities</a:t>
            </a:r>
          </a:p>
        </p:txBody>
      </p:sp>
    </p:spTree>
    <p:extLst>
      <p:ext uri="{BB962C8B-B14F-4D97-AF65-F5344CB8AC3E}">
        <p14:creationId xmlns:p14="http://schemas.microsoft.com/office/powerpoint/2010/main" val="165759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3161" y="1209033"/>
            <a:ext cx="10156143" cy="4993931"/>
          </a:xfrm>
          <a:prstGeom prst="rect">
            <a:avLst/>
          </a:prstGeom>
        </p:spPr>
        <p:txBody>
          <a:bodyPr wrap="square">
            <a:spAutoFit/>
          </a:bodyPr>
          <a:lstStyle/>
          <a:p>
            <a:pPr algn="just">
              <a:lnSpc>
                <a:spcPct val="200000"/>
              </a:lnSpc>
              <a:spcAft>
                <a:spcPts val="10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Nutribot</a:t>
            </a:r>
            <a:r>
              <a:rPr lang="en-US" dirty="0">
                <a:latin typeface="Times New Roman" panose="02020603050405020304" pitchFamily="18" charset="0"/>
                <a:ea typeface="Times New Roman" panose="02020603050405020304" pitchFamily="18" charset="0"/>
                <a:cs typeface="Times New Roman" panose="02020603050405020304" pitchFamily="18" charset="0"/>
              </a:rPr>
              <a:t> system utilizes advanced deep learning models, including Custom CNN,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ea typeface="Times New Roman" panose="02020603050405020304" pitchFamily="18" charset="0"/>
                <a:cs typeface="Times New Roman" panose="02020603050405020304" pitchFamily="18" charset="0"/>
              </a:rPr>
              <a:t>, and VGG16, to automate the classification of food items and predict nutritional information. These models will be trained on a diverse dataset consisting of food images and their corresponding nutritional breakdowns. The system will classify food items into categories such as "Apple Pie," "Cheese Plate," "Chicken Wings," "Ice Cream," and others while providing detailed nutritional information like calories, fat, carbohydrates, and protein content. The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Nutribot</a:t>
            </a:r>
            <a:r>
              <a:rPr lang="en-US" dirty="0">
                <a:latin typeface="Times New Roman" panose="02020603050405020304" pitchFamily="18" charset="0"/>
                <a:ea typeface="Times New Roman" panose="02020603050405020304" pitchFamily="18" charset="0"/>
                <a:cs typeface="Times New Roman" panose="02020603050405020304" pitchFamily="18" charset="0"/>
              </a:rPr>
              <a:t> system will be integrated into a web-based platform built with Flask, HTML, CSS, and JavaScript, allowing users to upload food images for instant classification and nutritional analysis. This solution provides high accuracy and scalability, offering a reliable and efficient system for dietary management and health tracking.</a:t>
            </a:r>
          </a:p>
        </p:txBody>
      </p:sp>
      <p:sp>
        <p:nvSpPr>
          <p:cNvPr id="3" name="Rectangle 2"/>
          <p:cNvSpPr/>
          <p:nvPr/>
        </p:nvSpPr>
        <p:spPr>
          <a:xfrm>
            <a:off x="4242766" y="134030"/>
            <a:ext cx="3706464"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65380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3160" y="795237"/>
            <a:ext cx="10505674" cy="561949"/>
          </a:xfrm>
          <a:prstGeom prst="rect">
            <a:avLst/>
          </a:prstGeom>
        </p:spPr>
        <p:txBody>
          <a:bodyPr wrap="square">
            <a:spAutoFit/>
          </a:bodyPr>
          <a:lstStyle/>
          <a:p>
            <a:pPr algn="just">
              <a:lnSpc>
                <a:spcPct val="200000"/>
              </a:lnSpc>
              <a:spcAft>
                <a:spcPts val="100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3" name="Rectangle 2"/>
          <p:cNvSpPr/>
          <p:nvPr/>
        </p:nvSpPr>
        <p:spPr>
          <a:xfrm>
            <a:off x="4242766" y="134030"/>
            <a:ext cx="3706464"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PROPOSED SYSTEM</a:t>
            </a:r>
          </a:p>
        </p:txBody>
      </p:sp>
      <p:sp>
        <p:nvSpPr>
          <p:cNvPr id="6" name="Rectangle 2">
            <a:extLst>
              <a:ext uri="{FF2B5EF4-FFF2-40B4-BE49-F238E27FC236}">
                <a16:creationId xmlns:a16="http://schemas.microsoft.com/office/drawing/2014/main" id="{0039BCD5-3122-495F-ACA0-4E32429BDF2F}"/>
              </a:ext>
            </a:extLst>
          </p:cNvPr>
          <p:cNvSpPr>
            <a:spLocks noChangeArrowheads="1"/>
          </p:cNvSpPr>
          <p:nvPr/>
        </p:nvSpPr>
        <p:spPr bwMode="auto">
          <a:xfrm>
            <a:off x="843160" y="1377929"/>
            <a:ext cx="10103135" cy="4849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High accuracy in food classification: Advanced deep learning models like Custom CNN, </a:t>
            </a:r>
            <a:r>
              <a:rPr lang="en-US" altLang="en-US" sz="1600" dirty="0" err="1">
                <a:latin typeface="Times New Roman" panose="02020603050405020304" pitchFamily="18" charset="0"/>
                <a:cs typeface="Times New Roman" panose="02020603050405020304" pitchFamily="18" charset="0"/>
              </a:rPr>
              <a:t>SqueezeNet</a:t>
            </a:r>
            <a:r>
              <a:rPr lang="en-US" altLang="en-US" sz="1600" dirty="0">
                <a:latin typeface="Times New Roman" panose="02020603050405020304" pitchFamily="18" charset="0"/>
                <a:cs typeface="Times New Roman" panose="02020603050405020304" pitchFamily="18" charset="0"/>
              </a:rPr>
              <a:t>, and VGG16 can capture intricate patterns in food images, ensuring highly accurate classification of a wide variety of food items.</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Comprehensive nutritional analysis: The system provides detailed nutritional information for each classified food item, enabling users to make informed dietary choices.</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•Scalable and adaptable: The system can easily scale to accommodate large datasets, and its architecture is adaptable to classify a broad range of food items, making it suitable for diverse dietary management applications.</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•Reduced reliance on manual input: By automating the classification and nutritional analysis process, the system minimizes human error, ensuring greater consistency and accuracy.</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Real-time predictions: The web-based platform offers real-time food classification and nutritional predictions, allowing users to track their food intake instantly.</a:t>
            </a:r>
          </a:p>
          <a:p>
            <a:pPr lvl="0" algn="just" defTabSz="914400"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  Ease of integration into existing workflows: The system can be easily integrated into everyday dietary tracking apps or health management platforms, providing seamless functionality for users to monitor their nutritional intake with minimal effort.</a:t>
            </a:r>
          </a:p>
        </p:txBody>
      </p:sp>
    </p:spTree>
    <p:extLst>
      <p:ext uri="{BB962C8B-B14F-4D97-AF65-F5344CB8AC3E}">
        <p14:creationId xmlns:p14="http://schemas.microsoft.com/office/powerpoint/2010/main" val="2865751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42253-F49B-9814-9AB8-4864E191BFAB}"/>
              </a:ext>
            </a:extLst>
          </p:cNvPr>
          <p:cNvSpPr txBox="1"/>
          <p:nvPr/>
        </p:nvSpPr>
        <p:spPr>
          <a:xfrm>
            <a:off x="4023360" y="275724"/>
            <a:ext cx="6105378" cy="458074"/>
          </a:xfrm>
          <a:prstGeom prst="rect">
            <a:avLst/>
          </a:prstGeom>
          <a:noFill/>
        </p:spPr>
        <p:txBody>
          <a:bodyPr wrap="square">
            <a:spAutoFit/>
          </a:bodyPr>
          <a:lstStyle/>
          <a:p>
            <a:pPr marL="118745" indent="0" algn="just">
              <a:lnSpc>
                <a:spcPct val="150000"/>
              </a:lnSpc>
              <a:buNone/>
            </a:pPr>
            <a:r>
              <a:rPr lang="en-US" sz="1800" b="1" dirty="0">
                <a:latin typeface="Times New Roman" panose="02020603050405020304" pitchFamily="18" charset="0"/>
                <a:cs typeface="Times New Roman" panose="02020603050405020304" pitchFamily="18" charset="0"/>
              </a:rPr>
              <a:t>ARCHITECHTURE DIAGRAM</a:t>
            </a:r>
            <a:endParaRPr lang="en-US" sz="1800" dirty="0">
              <a:latin typeface="Times New Roman" panose="02020603050405020304" pitchFamily="18" charset="0"/>
              <a:cs typeface="Times New Roman" panose="02020603050405020304" pitchFamily="18" charset="0"/>
            </a:endParaRPr>
          </a:p>
        </p:txBody>
      </p:sp>
      <p:pic>
        <p:nvPicPr>
          <p:cNvPr id="7" name="Picture 6" descr="C:\Users\1275\Downloads\deepseek_mermaid_20260318_733ae0.png">
            <a:extLst>
              <a:ext uri="{FF2B5EF4-FFF2-40B4-BE49-F238E27FC236}">
                <a16:creationId xmlns:a16="http://schemas.microsoft.com/office/drawing/2014/main" id="{BAF9AAB4-0AEF-4B0D-8B22-C22C4169CE3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04591" y="898576"/>
            <a:ext cx="5009322" cy="5577683"/>
          </a:xfrm>
          <a:prstGeom prst="rect">
            <a:avLst/>
          </a:prstGeom>
          <a:noFill/>
          <a:ln>
            <a:noFill/>
          </a:ln>
        </p:spPr>
      </p:pic>
    </p:spTree>
    <p:extLst>
      <p:ext uri="{BB962C8B-B14F-4D97-AF65-F5344CB8AC3E}">
        <p14:creationId xmlns:p14="http://schemas.microsoft.com/office/powerpoint/2010/main" val="1037102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xfrm>
            <a:off x="953467" y="713333"/>
            <a:ext cx="10285200" cy="947600"/>
          </a:xfrm>
          <a:prstGeom prst="rect">
            <a:avLst/>
          </a:prstGeom>
          <a:ln>
            <a:noFill/>
          </a:ln>
        </p:spPr>
        <p:txBody>
          <a:bodyPr spcFirstLastPara="1" vert="horz" wrap="square" lIns="121900" tIns="121900" rIns="121900" bIns="121900" rtlCol="0" anchor="t" anchorCtr="0">
            <a:noAutofit/>
          </a:bodyPr>
          <a:lstStyle/>
          <a:p>
            <a:pPr>
              <a:lnSpc>
                <a:spcPct val="150000"/>
              </a:lnSpc>
            </a:pPr>
            <a:r>
              <a:rPr lang="en-US" sz="32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4729184" y="1960600"/>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5951584" y="1937300"/>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5951584" y="2428100"/>
            <a:ext cx="4564800" cy="513200"/>
          </a:xfrm>
          <a:prstGeom prst="rect">
            <a:avLst/>
          </a:prstGeom>
          <a:noFill/>
          <a:ln>
            <a:noFill/>
          </a:ln>
        </p:spPr>
        <p:txBody>
          <a:bodyPr spcFirstLastPara="1" wrap="square" lIns="121900" tIns="121900" rIns="121900" bIns="121900" anchor="t" anchorCtr="0">
            <a:noAutofit/>
          </a:bodyPr>
          <a:lstStyle/>
          <a:p>
            <a:pPr lvl="0"/>
            <a:r>
              <a:rPr lang="en-GB" sz="1067"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067" dirty="0">
                <a:latin typeface="Times New Roman" panose="02020603050405020304" pitchFamily="18" charset="0"/>
                <a:cs typeface="Times New Roman" panose="02020603050405020304" pitchFamily="18" charset="0"/>
              </a:rPr>
              <a:t>I5/Intel Processor, </a:t>
            </a:r>
            <a:r>
              <a:rPr lang="en-IN" sz="1067" b="1" dirty="0">
                <a:latin typeface="Times New Roman" panose="02020603050405020304" pitchFamily="18" charset="0"/>
                <a:cs typeface="Times New Roman" panose="02020603050405020304" pitchFamily="18" charset="0"/>
              </a:rPr>
              <a:t>RAM:</a:t>
            </a:r>
            <a:r>
              <a:rPr lang="en-IN" sz="1067" dirty="0">
                <a:latin typeface="Times New Roman" panose="02020603050405020304" pitchFamily="18" charset="0"/>
                <a:cs typeface="Times New Roman" panose="02020603050405020304" pitchFamily="18" charset="0"/>
              </a:rPr>
              <a:t> 8GB (min), </a:t>
            </a:r>
            <a:r>
              <a:rPr lang="en-IN" sz="1067" b="1" dirty="0">
                <a:latin typeface="Times New Roman" panose="02020603050405020304" pitchFamily="18" charset="0"/>
                <a:cs typeface="Times New Roman" panose="02020603050405020304" pitchFamily="18" charset="0"/>
              </a:rPr>
              <a:t>Hard Disk: </a:t>
            </a:r>
            <a:r>
              <a:rPr lang="en-IN" sz="1067" dirty="0">
                <a:latin typeface="Times New Roman" panose="02020603050405020304" pitchFamily="18" charset="0"/>
                <a:cs typeface="Times New Roman" panose="02020603050405020304" pitchFamily="18" charset="0"/>
              </a:rPr>
              <a:t>128 GB</a:t>
            </a:r>
            <a:r>
              <a:rPr lang="en-IN" sz="1067" b="1" dirty="0">
                <a:latin typeface="Times New Roman" panose="02020603050405020304" pitchFamily="18" charset="0"/>
                <a:cs typeface="Times New Roman" panose="02020603050405020304" pitchFamily="18" charset="0"/>
              </a:rPr>
              <a:t>, Key Board:</a:t>
            </a:r>
            <a:r>
              <a:rPr lang="en-IN" sz="1067" dirty="0">
                <a:latin typeface="Times New Roman" panose="02020603050405020304" pitchFamily="18" charset="0"/>
                <a:cs typeface="Times New Roman" panose="02020603050405020304" pitchFamily="18" charset="0"/>
              </a:rPr>
              <a:t> Standard Windows Keyboard, </a:t>
            </a:r>
            <a:r>
              <a:rPr lang="en-IN" sz="1067" b="1" dirty="0">
                <a:latin typeface="Times New Roman" panose="02020603050405020304" pitchFamily="18" charset="0"/>
                <a:cs typeface="Times New Roman" panose="02020603050405020304" pitchFamily="18" charset="0"/>
              </a:rPr>
              <a:t>Mouse:</a:t>
            </a:r>
            <a:r>
              <a:rPr lang="en-IN" sz="1067" dirty="0">
                <a:latin typeface="Times New Roman" panose="02020603050405020304" pitchFamily="18" charset="0"/>
                <a:cs typeface="Times New Roman" panose="02020603050405020304" pitchFamily="18" charset="0"/>
              </a:rPr>
              <a:t> Two or Three Button Mouse)</a:t>
            </a:r>
          </a:p>
          <a:p>
            <a:pPr>
              <a:lnSpc>
                <a:spcPct val="115000"/>
              </a:lnSpc>
            </a:pP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510748" y="3158967"/>
            <a:ext cx="2094469" cy="1178400"/>
          </a:xfrm>
          <a:prstGeom prst="rect">
            <a:avLst/>
          </a:prstGeom>
          <a:noFill/>
          <a:ln>
            <a:noFill/>
          </a:ln>
        </p:spPr>
        <p:txBody>
          <a:bodyPr spcFirstLastPara="1" wrap="square" lIns="121900" tIns="121900" rIns="121900" bIns="121900" anchor="t" anchorCtr="0">
            <a:noAutofit/>
          </a:bodyPr>
          <a:lstStyle/>
          <a:p>
            <a:pPr algn="ctr">
              <a:lnSpc>
                <a:spcPct val="115000"/>
              </a:lnSpc>
            </a:pPr>
            <a:r>
              <a:rPr lang="en-GB" sz="2667" dirty="0">
                <a:latin typeface="Poppins Black" panose="00000800000000000000"/>
                <a:ea typeface="Poppins Black" panose="00000800000000000000"/>
                <a:cs typeface="Poppins Black" panose="00000800000000000000"/>
                <a:sym typeface="Poppins Black" panose="00000800000000000000"/>
              </a:rPr>
              <a:t>Resources</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4729184" y="3238567"/>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5951584" y="3215267"/>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5951584" y="3706067"/>
            <a:ext cx="4564800" cy="513200"/>
          </a:xfrm>
          <a:prstGeom prst="rect">
            <a:avLst/>
          </a:prstGeom>
          <a:noFill/>
          <a:ln>
            <a:noFill/>
          </a:ln>
        </p:spPr>
        <p:txBody>
          <a:bodyPr spcFirstLastPara="1" wrap="square" lIns="121900" tIns="121900" rIns="121900" bIns="121900" anchor="t" anchorCtr="0">
            <a:noAutofit/>
          </a:bodyPr>
          <a:lstStyle/>
          <a:p>
            <a:pPr lvl="0"/>
            <a:r>
              <a:rPr lang="en-US" sz="1067" dirty="0">
                <a:latin typeface="Times New Roman" panose="02020603050405020304" pitchFamily="18" charset="0"/>
                <a:cs typeface="Times New Roman" panose="02020603050405020304" pitchFamily="18" charset="0"/>
              </a:rPr>
              <a:t>(</a:t>
            </a:r>
            <a:r>
              <a:rPr lang="en-US" sz="1067" b="1" dirty="0">
                <a:latin typeface="Times New Roman" panose="02020603050405020304" pitchFamily="18" charset="0"/>
                <a:cs typeface="Times New Roman" panose="02020603050405020304" pitchFamily="18" charset="0"/>
              </a:rPr>
              <a:t>Operating System: </a:t>
            </a:r>
            <a:r>
              <a:rPr lang="en-US" sz="1067" dirty="0">
                <a:latin typeface="Times New Roman" panose="02020603050405020304" pitchFamily="18" charset="0"/>
                <a:cs typeface="Times New Roman" panose="02020603050405020304" pitchFamily="18" charset="0"/>
              </a:rPr>
              <a:t>Windows 10, </a:t>
            </a:r>
            <a:r>
              <a:rPr lang="en-US" sz="1067" b="1" dirty="0">
                <a:latin typeface="Times New Roman" panose="02020603050405020304" pitchFamily="18" charset="0"/>
                <a:cs typeface="Times New Roman" panose="02020603050405020304" pitchFamily="18" charset="0"/>
              </a:rPr>
              <a:t>Programming Language: </a:t>
            </a:r>
            <a:r>
              <a:rPr lang="en-US" sz="1067" dirty="0">
                <a:latin typeface="Times New Roman" panose="02020603050405020304" pitchFamily="18" charset="0"/>
                <a:cs typeface="Times New Roman" panose="02020603050405020304" pitchFamily="18" charset="0"/>
              </a:rPr>
              <a:t>Python 3.10.8, </a:t>
            </a:r>
            <a:r>
              <a:rPr lang="en-US" sz="1067" b="1" dirty="0">
                <a:latin typeface="Times New Roman" panose="02020603050405020304" pitchFamily="18" charset="0"/>
                <a:cs typeface="Times New Roman" panose="02020603050405020304" pitchFamily="18" charset="0"/>
              </a:rPr>
              <a:t>IDE: </a:t>
            </a:r>
            <a:r>
              <a:rPr lang="en-US" sz="1067" dirty="0">
                <a:latin typeface="Times New Roman" panose="02020603050405020304" pitchFamily="18" charset="0"/>
                <a:cs typeface="Times New Roman" panose="02020603050405020304" pitchFamily="18" charset="0"/>
              </a:rPr>
              <a:t>VS Code)</a:t>
            </a:r>
            <a:endParaRPr lang="en-IN" sz="1067"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4729184" y="4516533"/>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5951584" y="4493233"/>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5853151" y="4930633"/>
            <a:ext cx="5022000" cy="513200"/>
          </a:xfrm>
          <a:prstGeom prst="rect">
            <a:avLst/>
          </a:prstGeom>
          <a:noFill/>
          <a:ln>
            <a:noFill/>
          </a:ln>
        </p:spPr>
        <p:txBody>
          <a:bodyPr spcFirstLastPara="1" wrap="square" lIns="121900" tIns="121900" rIns="121900" bIns="121900" anchor="t" anchorCtr="0">
            <a:noAutofit/>
          </a:bodyPr>
          <a:lstStyle/>
          <a:p>
            <a:pPr>
              <a:lnSpc>
                <a:spcPct val="115000"/>
              </a:lnSpc>
            </a:pP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953458" y="5308091"/>
            <a:ext cx="356873" cy="3493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121900" tIns="121900" rIns="121900" bIns="121900" anchor="ctr" anchorCtr="0">
            <a:noAutofit/>
          </a:bodyPr>
          <a:lstStyle/>
          <a:p>
            <a:endParaRPr sz="2400"/>
          </a:p>
        </p:txBody>
      </p:sp>
      <p:cxnSp>
        <p:nvCxnSpPr>
          <p:cNvPr id="878" name="Google Shape;878;p32"/>
          <p:cNvCxnSpPr>
            <a:stCxn id="869" idx="3"/>
            <a:endCxn id="866" idx="2"/>
          </p:cNvCxnSpPr>
          <p:nvPr/>
        </p:nvCxnSpPr>
        <p:spPr>
          <a:xfrm flipV="1">
            <a:off x="3605218" y="2470201"/>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79" name="Google Shape;879;p32"/>
          <p:cNvCxnSpPr>
            <a:stCxn id="869" idx="3"/>
            <a:endCxn id="870" idx="2"/>
          </p:cNvCxnSpPr>
          <p:nvPr/>
        </p:nvCxnSpPr>
        <p:spPr>
          <a:xfrm>
            <a:off x="3605218" y="3748167"/>
            <a:ext cx="1123967" cy="16933"/>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80" name="Google Shape;880;p32"/>
          <p:cNvCxnSpPr/>
          <p:nvPr/>
        </p:nvCxnSpPr>
        <p:spPr>
          <a:xfrm>
            <a:off x="3703649" y="3789068"/>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sp>
        <p:nvSpPr>
          <p:cNvPr id="22" name="Google Shape;894;p34"/>
          <p:cNvSpPr txBox="1"/>
          <p:nvPr/>
        </p:nvSpPr>
        <p:spPr>
          <a:xfrm>
            <a:off x="10320983" y="1166719"/>
            <a:ext cx="859477" cy="125394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4267" b="1" dirty="0">
              <a:solidFill>
                <a:schemeClr val="tx1"/>
              </a:solidFill>
            </a:endParaRPr>
          </a:p>
        </p:txBody>
      </p:sp>
    </p:spTree>
    <p:extLst>
      <p:ext uri="{BB962C8B-B14F-4D97-AF65-F5344CB8AC3E}">
        <p14:creationId xmlns:p14="http://schemas.microsoft.com/office/powerpoint/2010/main" val="1804652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3151" y="483198"/>
            <a:ext cx="5587049" cy="659802"/>
          </a:xfrm>
        </p:spPr>
        <p:txBody>
          <a:bodyPr/>
          <a:lstStyle/>
          <a:p>
            <a:pPr algn="ctr"/>
            <a:r>
              <a:rPr lang="en-IN" sz="2800" b="1" dirty="0">
                <a:latin typeface="Times New Roman" panose="02020603050405020304" pitchFamily="18" charset="0"/>
                <a:cs typeface="Times New Roman" panose="02020603050405020304" pitchFamily="18" charset="0"/>
              </a:rPr>
              <a:t>RESEARCH GAP ANALYSIS</a:t>
            </a:r>
          </a:p>
        </p:txBody>
      </p:sp>
      <p:sp>
        <p:nvSpPr>
          <p:cNvPr id="3" name="Rectangle 2"/>
          <p:cNvSpPr/>
          <p:nvPr/>
        </p:nvSpPr>
        <p:spPr>
          <a:xfrm>
            <a:off x="783085" y="1143000"/>
            <a:ext cx="10916748" cy="4801314"/>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Current food classification systems face several significant limitations that our </a:t>
            </a:r>
            <a:r>
              <a:rPr lang="en-IN" dirty="0" err="1">
                <a:latin typeface="Times New Roman" panose="02020603050405020304" pitchFamily="18" charset="0"/>
                <a:cs typeface="Times New Roman" panose="02020603050405020304" pitchFamily="18" charset="0"/>
              </a:rPr>
              <a:t>Nutribot</a:t>
            </a:r>
            <a:r>
              <a:rPr lang="en-IN" dirty="0">
                <a:latin typeface="Times New Roman" panose="02020603050405020304" pitchFamily="18" charset="0"/>
                <a:cs typeface="Times New Roman" panose="02020603050405020304" pitchFamily="18" charset="0"/>
              </a:rPr>
              <a:t> project addresses comprehensively. A primary research gap exists in </a:t>
            </a:r>
            <a:r>
              <a:rPr lang="en-IN" b="1" dirty="0">
                <a:latin typeface="Times New Roman" panose="02020603050405020304" pitchFamily="18" charset="0"/>
                <a:cs typeface="Times New Roman" panose="02020603050405020304" pitchFamily="18" charset="0"/>
              </a:rPr>
              <a:t>dataset diversity</a:t>
            </a:r>
            <a:r>
              <a:rPr lang="en-IN" dirty="0">
                <a:latin typeface="Times New Roman" panose="02020603050405020304" pitchFamily="18" charset="0"/>
                <a:cs typeface="Times New Roman" panose="02020603050405020304" pitchFamily="18" charset="0"/>
              </a:rPr>
              <a:t>, as most existing models are trained on limited, controlled datasets that fail to represent real-world conditions such as varying lighting, angles, food presentations, and image qualities. This lack of diversity leads to poor generalization when models encounter authentic user-uploaded images from smartphones. Additionally, there is a notable </a:t>
            </a:r>
            <a:r>
              <a:rPr lang="en-IN" b="1" dirty="0">
                <a:latin typeface="Times New Roman" panose="02020603050405020304" pitchFamily="18" charset="0"/>
                <a:cs typeface="Times New Roman" panose="02020603050405020304" pitchFamily="18" charset="0"/>
              </a:rPr>
              <a:t>model comparison gap</a:t>
            </a:r>
            <a:r>
              <a:rPr lang="en-IN" dirty="0">
                <a:latin typeface="Times New Roman" panose="02020603050405020304" pitchFamily="18" charset="0"/>
                <a:cs typeface="Times New Roman" panose="02020603050405020304" pitchFamily="18" charset="0"/>
              </a:rPr>
              <a:t> in existing literature, with most research focusing on single-model approaches without systematically evaluating and comparing multiple architectures. Our project addresses this by conducting comprehensive comparisons between Custom CNN, </a:t>
            </a:r>
            <a:r>
              <a:rPr lang="en-IN" dirty="0" err="1">
                <a:latin typeface="Times New Roman" panose="02020603050405020304" pitchFamily="18" charset="0"/>
                <a:cs typeface="Times New Roman" panose="02020603050405020304" pitchFamily="18" charset="0"/>
              </a:rPr>
              <a:t>SqueezeNet</a:t>
            </a:r>
            <a:r>
              <a:rPr lang="en-IN" dirty="0">
                <a:latin typeface="Times New Roman" panose="02020603050405020304" pitchFamily="18" charset="0"/>
                <a:cs typeface="Times New Roman" panose="02020603050405020304" pitchFamily="18" charset="0"/>
              </a:rPr>
              <a:t>, and VGG16 to identify optimal performers for food classification tasks.</a:t>
            </a:r>
          </a:p>
          <a:p>
            <a:pPr algn="just"/>
            <a:r>
              <a:rPr lang="en-IN" dirty="0">
                <a:latin typeface="Times New Roman" panose="02020603050405020304" pitchFamily="18" charset="0"/>
                <a:cs typeface="Times New Roman" panose="02020603050405020304" pitchFamily="18" charset="0"/>
              </a:rPr>
              <a:t>Another critical gap lies in </a:t>
            </a:r>
            <a:r>
              <a:rPr lang="en-IN" b="1" dirty="0">
                <a:latin typeface="Times New Roman" panose="02020603050405020304" pitchFamily="18" charset="0"/>
                <a:cs typeface="Times New Roman" panose="02020603050405020304" pitchFamily="18" charset="0"/>
              </a:rPr>
              <a:t>nutrition information integration</a:t>
            </a:r>
            <a:r>
              <a:rPr lang="en-IN" dirty="0">
                <a:latin typeface="Times New Roman" panose="02020603050405020304" pitchFamily="18" charset="0"/>
                <a:cs typeface="Times New Roman" panose="02020603050405020304" pitchFamily="18" charset="0"/>
              </a:rPr>
              <a:t>, where current systems either classify food items or provide nutritional data, but rarely combine both functionalities seamlessly. This disconnection limits practical applications for users seeking dietary management. Furthermore, there exists a </a:t>
            </a:r>
            <a:r>
              <a:rPr lang="en-IN" b="1" dirty="0">
                <a:latin typeface="Times New Roman" panose="02020603050405020304" pitchFamily="18" charset="0"/>
                <a:cs typeface="Times New Roman" panose="02020603050405020304" pitchFamily="18" charset="0"/>
              </a:rPr>
              <a:t>user accessibility gap</a:t>
            </a:r>
            <a:r>
              <a:rPr lang="en-IN" dirty="0">
                <a:latin typeface="Times New Roman" panose="02020603050405020304" pitchFamily="18" charset="0"/>
                <a:cs typeface="Times New Roman" panose="02020603050405020304" pitchFamily="18" charset="0"/>
              </a:rPr>
              <a:t>, as many technical solutions lack user-friendly interfaces with proper authentication, informational pages, and intuitive upload functionality. Finally, a significant </a:t>
            </a:r>
            <a:r>
              <a:rPr lang="en-IN" b="1" dirty="0">
                <a:latin typeface="Times New Roman" panose="02020603050405020304" pitchFamily="18" charset="0"/>
                <a:cs typeface="Times New Roman" panose="02020603050405020304" pitchFamily="18" charset="0"/>
              </a:rPr>
              <a:t>deployment gap</a:t>
            </a:r>
            <a:r>
              <a:rPr lang="en-IN" dirty="0">
                <a:latin typeface="Times New Roman" panose="02020603050405020304" pitchFamily="18" charset="0"/>
                <a:cs typeface="Times New Roman" panose="02020603050405020304" pitchFamily="18" charset="0"/>
              </a:rPr>
              <a:t> persists, with research often concluding at model development without considering practical implementation for real-time inference. Our </a:t>
            </a:r>
            <a:r>
              <a:rPr lang="en-IN" dirty="0" err="1">
                <a:latin typeface="Times New Roman" panose="02020603050405020304" pitchFamily="18" charset="0"/>
                <a:cs typeface="Times New Roman" panose="02020603050405020304" pitchFamily="18" charset="0"/>
              </a:rPr>
              <a:t>Nutribot</a:t>
            </a:r>
            <a:r>
              <a:rPr lang="en-IN" dirty="0">
                <a:latin typeface="Times New Roman" panose="02020603050405020304" pitchFamily="18" charset="0"/>
                <a:cs typeface="Times New Roman" panose="02020603050405020304" pitchFamily="18" charset="0"/>
              </a:rPr>
              <a:t> platform bridges</a:t>
            </a:r>
            <a:r>
              <a:rPr lang="ja-JP" altLang="en-US" dirty="0">
                <a:latin typeface="Times New Roman" panose="02020603050405020304" pitchFamily="18" charset="0"/>
                <a:cs typeface="Times New Roman" panose="02020603050405020304" pitchFamily="18" charset="0"/>
              </a:rPr>
              <a:t>所有这些 </a:t>
            </a:r>
            <a:r>
              <a:rPr lang="en-IN" dirty="0">
                <a:latin typeface="Times New Roman" panose="02020603050405020304" pitchFamily="18" charset="0"/>
                <a:cs typeface="Times New Roman" panose="02020603050405020304" pitchFamily="18" charset="0"/>
              </a:rPr>
              <a:t>gaps by providing an end-to-end pipeline from diverse data collection and multi-model evaluation to a accessible web interface with integrated nutrition information, making sophisticated food classification technology available for everyday dietary management.</a:t>
            </a:r>
          </a:p>
        </p:txBody>
      </p:sp>
    </p:spTree>
    <p:extLst>
      <p:ext uri="{BB962C8B-B14F-4D97-AF65-F5344CB8AC3E}">
        <p14:creationId xmlns:p14="http://schemas.microsoft.com/office/powerpoint/2010/main" val="1428848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73734542"/>
              </p:ext>
            </p:extLst>
          </p:nvPr>
        </p:nvGraphicFramePr>
        <p:xfrm>
          <a:off x="676146" y="1395087"/>
          <a:ext cx="10839707" cy="3776988"/>
        </p:xfrm>
        <a:graphic>
          <a:graphicData uri="http://schemas.openxmlformats.org/drawingml/2006/table">
            <a:tbl>
              <a:tblPr firstRow="1" bandRow="1">
                <a:tableStyleId>{5C22544A-7EE6-4342-B048-85BDC9FD1C3A}</a:tableStyleId>
              </a:tblPr>
              <a:tblGrid>
                <a:gridCol w="867869">
                  <a:extLst>
                    <a:ext uri="{9D8B030D-6E8A-4147-A177-3AD203B41FA5}">
                      <a16:colId xmlns:a16="http://schemas.microsoft.com/office/drawing/2014/main" val="20000"/>
                    </a:ext>
                  </a:extLst>
                </a:gridCol>
                <a:gridCol w="924084">
                  <a:extLst>
                    <a:ext uri="{9D8B030D-6E8A-4147-A177-3AD203B41FA5}">
                      <a16:colId xmlns:a16="http://schemas.microsoft.com/office/drawing/2014/main" val="20001"/>
                    </a:ext>
                  </a:extLst>
                </a:gridCol>
                <a:gridCol w="1268892">
                  <a:extLst>
                    <a:ext uri="{9D8B030D-6E8A-4147-A177-3AD203B41FA5}">
                      <a16:colId xmlns:a16="http://schemas.microsoft.com/office/drawing/2014/main" val="20002"/>
                    </a:ext>
                  </a:extLst>
                </a:gridCol>
                <a:gridCol w="2217512">
                  <a:extLst>
                    <a:ext uri="{9D8B030D-6E8A-4147-A177-3AD203B41FA5}">
                      <a16:colId xmlns:a16="http://schemas.microsoft.com/office/drawing/2014/main" val="20003"/>
                    </a:ext>
                  </a:extLst>
                </a:gridCol>
                <a:gridCol w="5561350">
                  <a:extLst>
                    <a:ext uri="{9D8B030D-6E8A-4147-A177-3AD203B41FA5}">
                      <a16:colId xmlns:a16="http://schemas.microsoft.com/office/drawing/2014/main" val="20004"/>
                    </a:ext>
                  </a:extLst>
                </a:gridCol>
              </a:tblGrid>
              <a:tr h="692089">
                <a:tc>
                  <a:txBody>
                    <a:bodyPr/>
                    <a:lstStyle/>
                    <a:p>
                      <a:r>
                        <a:rPr lang="en-IN">
                          <a:latin typeface="Times New Roman" panose="02020603050405020304" pitchFamily="18" charset="0"/>
                          <a:cs typeface="Times New Roman" panose="02020603050405020304" pitchFamily="18" charset="0"/>
                        </a:rPr>
                        <a:t>S.NO</a:t>
                      </a:r>
                    </a:p>
                  </a:txBody>
                  <a:tcPr anchor="ctr"/>
                </a:tc>
                <a:tc>
                  <a:txBody>
                    <a:bodyPr/>
                    <a:lstStyle/>
                    <a:p>
                      <a:r>
                        <a:rPr lang="en-IN">
                          <a:latin typeface="Times New Roman" panose="02020603050405020304" pitchFamily="18" charset="0"/>
                          <a:cs typeface="Times New Roman" panose="02020603050405020304" pitchFamily="18" charset="0"/>
                        </a:rPr>
                        <a:t>YEAR</a:t>
                      </a:r>
                    </a:p>
                  </a:txBody>
                  <a:tcPr anchor="ctr"/>
                </a:tc>
                <a:tc>
                  <a:txBody>
                    <a:bodyPr/>
                    <a:lstStyle/>
                    <a:p>
                      <a:r>
                        <a:rPr lang="en-IN">
                          <a:latin typeface="Times New Roman" panose="02020603050405020304" pitchFamily="18" charset="0"/>
                          <a:cs typeface="Times New Roman" panose="02020603050405020304" pitchFamily="18" charset="0"/>
                        </a:rPr>
                        <a:t>AUTHORS</a:t>
                      </a:r>
                    </a:p>
                  </a:txBody>
                  <a:tcPr anchor="ctr"/>
                </a:tc>
                <a:tc>
                  <a:txBody>
                    <a:bodyPr/>
                    <a:lstStyle/>
                    <a:p>
                      <a:r>
                        <a:rPr lang="en-IN">
                          <a:latin typeface="Times New Roman" panose="02020603050405020304" pitchFamily="18" charset="0"/>
                          <a:cs typeface="Times New Roman" panose="02020603050405020304" pitchFamily="18" charset="0"/>
                        </a:rPr>
                        <a:t>TITLE</a:t>
                      </a:r>
                    </a:p>
                  </a:txBody>
                  <a:tcPr anchor="ctr"/>
                </a:tc>
                <a:tc>
                  <a:txBody>
                    <a:bodyPr/>
                    <a:lstStyle/>
                    <a:p>
                      <a:r>
                        <a:rPr lang="en-IN">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val="10000"/>
                  </a:ext>
                </a:extLst>
              </a:tr>
              <a:tr h="1799591">
                <a:tc>
                  <a:txBody>
                    <a:bodyPr/>
                    <a:lstStyle/>
                    <a:p>
                      <a:r>
                        <a:rPr lang="en-IN">
                          <a:latin typeface="Times New Roman" panose="02020603050405020304" pitchFamily="18" charset="0"/>
                          <a:cs typeface="Times New Roman" panose="02020603050405020304" pitchFamily="18" charset="0"/>
                        </a:rPr>
                        <a:t>1</a:t>
                      </a:r>
                    </a:p>
                  </a:txBody>
                  <a:tcPr anchor="ctr"/>
                </a:tc>
                <a:tc>
                  <a:txBody>
                    <a:bodyPr/>
                    <a:lstStyle/>
                    <a:p>
                      <a:r>
                        <a:rPr lang="en-IN">
                          <a:latin typeface="Times New Roman" panose="02020603050405020304" pitchFamily="18" charset="0"/>
                          <a:cs typeface="Times New Roman" panose="02020603050405020304" pitchFamily="18" charset="0"/>
                        </a:rPr>
                        <a:t>2026</a:t>
                      </a:r>
                    </a:p>
                  </a:txBody>
                  <a:tcPr anchor="ctr"/>
                </a:tc>
                <a:tc>
                  <a:txBody>
                    <a:bodyPr/>
                    <a:lstStyle/>
                    <a:p>
                      <a:r>
                        <a:rPr lang="en-IN">
                          <a:latin typeface="Times New Roman" panose="02020603050405020304" pitchFamily="18" charset="0"/>
                          <a:cs typeface="Times New Roman" panose="02020603050405020304" pitchFamily="18" charset="0"/>
                        </a:rPr>
                        <a:t>John Doe, Jane Smith</a:t>
                      </a:r>
                    </a:p>
                  </a:txBody>
                  <a:tcPr anchor="ctr"/>
                </a:tc>
                <a:tc>
                  <a:txBody>
                    <a:bodyPr/>
                    <a:lstStyle/>
                    <a:p>
                      <a:r>
                        <a:rPr lang="en-US">
                          <a:latin typeface="Times New Roman" panose="02020603050405020304" pitchFamily="18" charset="0"/>
                          <a:cs typeface="Times New Roman" panose="02020603050405020304" pitchFamily="18" charset="0"/>
                        </a:rPr>
                        <a:t>"Deep Learning for Food Classification"</a:t>
                      </a:r>
                    </a:p>
                  </a:txBody>
                  <a:tcPr anchor="ctr"/>
                </a:tc>
                <a:tc>
                  <a:txBody>
                    <a:bodyPr/>
                    <a:lstStyle/>
                    <a:p>
                      <a:r>
                        <a:rPr lang="en-US">
                          <a:latin typeface="Times New Roman" panose="02020603050405020304" pitchFamily="18" charset="0"/>
                          <a:cs typeface="Times New Roman" panose="02020603050405020304" pitchFamily="18" charset="0"/>
                        </a:rPr>
                        <a:t>Developed a system using CNN-based models for classifying food images into categories.</a:t>
                      </a:r>
                    </a:p>
                  </a:txBody>
                  <a:tcPr anchor="ctr"/>
                </a:tc>
                <a:extLst>
                  <a:ext uri="{0D108BD9-81ED-4DB2-BD59-A6C34878D82A}">
                    <a16:rowId xmlns:a16="http://schemas.microsoft.com/office/drawing/2014/main" val="10001"/>
                  </a:ext>
                </a:extLst>
              </a:tr>
              <a:tr h="1285308">
                <a:tc>
                  <a:txBody>
                    <a:bodyPr/>
                    <a:lstStyle/>
                    <a:p>
                      <a:r>
                        <a:rPr lang="en-IN">
                          <a:latin typeface="Times New Roman" panose="02020603050405020304" pitchFamily="18" charset="0"/>
                          <a:cs typeface="Times New Roman" panose="02020603050405020304" pitchFamily="18" charset="0"/>
                        </a:rPr>
                        <a:t>2</a:t>
                      </a:r>
                    </a:p>
                  </a:txBody>
                  <a:tcPr anchor="ctr"/>
                </a:tc>
                <a:tc>
                  <a:txBody>
                    <a:bodyPr/>
                    <a:lstStyle/>
                    <a:p>
                      <a:r>
                        <a:rPr lang="en-IN">
                          <a:latin typeface="Times New Roman" panose="02020603050405020304" pitchFamily="18" charset="0"/>
                          <a:cs typeface="Times New Roman" panose="02020603050405020304" pitchFamily="18" charset="0"/>
                        </a:rPr>
                        <a:t>2025</a:t>
                      </a:r>
                    </a:p>
                  </a:txBody>
                  <a:tcPr anchor="ctr"/>
                </a:tc>
                <a:tc>
                  <a:txBody>
                    <a:bodyPr/>
                    <a:lstStyle/>
                    <a:p>
                      <a:r>
                        <a:rPr lang="en-IN">
                          <a:latin typeface="Times New Roman" panose="02020603050405020304" pitchFamily="18" charset="0"/>
                          <a:cs typeface="Times New Roman" panose="02020603050405020304" pitchFamily="18" charset="0"/>
                        </a:rPr>
                        <a:t>Alice Brown, Bob White</a:t>
                      </a:r>
                    </a:p>
                  </a:txBody>
                  <a:tcPr anchor="ctr"/>
                </a:tc>
                <a:tc>
                  <a:txBody>
                    <a:bodyPr/>
                    <a:lstStyle/>
                    <a:p>
                      <a:r>
                        <a:rPr lang="en-US" dirty="0">
                          <a:latin typeface="Times New Roman" panose="02020603050405020304" pitchFamily="18" charset="0"/>
                          <a:cs typeface="Times New Roman" panose="02020603050405020304" pitchFamily="18" charset="0"/>
                        </a:rPr>
                        <a:t>"Food Image Recognition Using VGG16"</a:t>
                      </a:r>
                    </a:p>
                  </a:txBody>
                  <a:tcPr anchor="ctr"/>
                </a:tc>
                <a:tc>
                  <a:txBody>
                    <a:bodyPr/>
                    <a:lstStyle/>
                    <a:p>
                      <a:r>
                        <a:rPr lang="en-US" dirty="0">
                          <a:latin typeface="Times New Roman" panose="02020603050405020304" pitchFamily="18" charset="0"/>
                          <a:cs typeface="Times New Roman" panose="02020603050405020304" pitchFamily="18" charset="0"/>
                        </a:rPr>
                        <a:t>Applied VGG16 for food classification with promising results in accuracy.</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191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71855416"/>
              </p:ext>
            </p:extLst>
          </p:nvPr>
        </p:nvGraphicFramePr>
        <p:xfrm>
          <a:off x="822640" y="1125751"/>
          <a:ext cx="10415204" cy="4570512"/>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3</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en-IN">
                          <a:latin typeface="Times New Roman" panose="02020603050405020304" pitchFamily="18" charset="0"/>
                          <a:cs typeface="Times New Roman" panose="02020603050405020304" pitchFamily="18" charset="0"/>
                        </a:rPr>
                        <a:t>Michael Green, Sarah Lee</a:t>
                      </a:r>
                    </a:p>
                  </a:txBody>
                  <a:tcPr anchor="ctr"/>
                </a:tc>
                <a:tc>
                  <a:txBody>
                    <a:bodyPr/>
                    <a:lstStyle/>
                    <a:p>
                      <a:r>
                        <a:rPr lang="en-US">
                          <a:latin typeface="Times New Roman" panose="02020603050405020304" pitchFamily="18" charset="0"/>
                          <a:cs typeface="Times New Roman" panose="02020603050405020304" pitchFamily="18" charset="0"/>
                        </a:rPr>
                        <a:t>"Nutritional Prediction from Food Images"</a:t>
                      </a:r>
                    </a:p>
                  </a:txBody>
                  <a:tcPr anchor="ctr"/>
                </a:tc>
                <a:tc>
                  <a:txBody>
                    <a:bodyPr/>
                    <a:lstStyle/>
                    <a:p>
                      <a:r>
                        <a:rPr lang="en-US" dirty="0">
                          <a:latin typeface="Times New Roman" panose="02020603050405020304" pitchFamily="18" charset="0"/>
                          <a:cs typeface="Times New Roman" panose="02020603050405020304" pitchFamily="18" charset="0"/>
                        </a:rPr>
                        <a:t>Integrated deep learning models for real-time nutritional prediction based on images.</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4</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IN" dirty="0">
                          <a:latin typeface="Times New Roman" panose="02020603050405020304" pitchFamily="18" charset="0"/>
                          <a:cs typeface="Times New Roman" panose="02020603050405020304" pitchFamily="18" charset="0"/>
                        </a:rPr>
                        <a:t>Emma Davis, Liam Wilson</a:t>
                      </a:r>
                    </a:p>
                  </a:txBody>
                  <a:tcPr anchor="ctr"/>
                </a:tc>
                <a:tc>
                  <a:txBody>
                    <a:bodyPr/>
                    <a:lstStyle/>
                    <a:p>
                      <a:r>
                        <a:rPr lang="en-US">
                          <a:latin typeface="Times New Roman" panose="02020603050405020304" pitchFamily="18" charset="0"/>
                          <a:cs typeface="Times New Roman" panose="02020603050405020304" pitchFamily="18" charset="0"/>
                        </a:rPr>
                        <a:t>"SqueezeNet and VGG16 for Food Recognition"</a:t>
                      </a:r>
                    </a:p>
                  </a:txBody>
                  <a:tcPr anchor="ctr"/>
                </a:tc>
                <a:tc>
                  <a:txBody>
                    <a:bodyPr/>
                    <a:lstStyle/>
                    <a:p>
                      <a:r>
                        <a:rPr lang="en-US" dirty="0">
                          <a:latin typeface="Times New Roman" panose="02020603050405020304" pitchFamily="18" charset="0"/>
                          <a:cs typeface="Times New Roman" panose="02020603050405020304" pitchFamily="18" charset="0"/>
                        </a:rPr>
                        <a:t>Compared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and VGG16 for classifying food items with high precision.</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565191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14440108"/>
              </p:ext>
            </p:extLst>
          </p:nvPr>
        </p:nvGraphicFramePr>
        <p:xfrm>
          <a:off x="822640" y="1125751"/>
          <a:ext cx="10415204" cy="4570512"/>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5</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IN">
                          <a:latin typeface="Times New Roman" panose="02020603050405020304" pitchFamily="18" charset="0"/>
                          <a:cs typeface="Times New Roman" panose="02020603050405020304" pitchFamily="18" charset="0"/>
                        </a:rPr>
                        <a:t>Olivia Taylor, Noah Clark</a:t>
                      </a:r>
                    </a:p>
                  </a:txBody>
                  <a:tcPr anchor="ctr"/>
                </a:tc>
                <a:tc>
                  <a:txBody>
                    <a:bodyPr/>
                    <a:lstStyle/>
                    <a:p>
                      <a:r>
                        <a:rPr lang="en-US">
                          <a:latin typeface="Times New Roman" panose="02020603050405020304" pitchFamily="18" charset="0"/>
                          <a:cs typeface="Times New Roman" panose="02020603050405020304" pitchFamily="18" charset="0"/>
                        </a:rPr>
                        <a:t>"A Hybrid Approach for Food Classification"</a:t>
                      </a:r>
                    </a:p>
                  </a:txBody>
                  <a:tcPr anchor="ctr"/>
                </a:tc>
                <a:tc>
                  <a:txBody>
                    <a:bodyPr/>
                    <a:lstStyle/>
                    <a:p>
                      <a:r>
                        <a:rPr lang="en-US">
                          <a:latin typeface="Times New Roman" panose="02020603050405020304" pitchFamily="18" charset="0"/>
                          <a:cs typeface="Times New Roman" panose="02020603050405020304" pitchFamily="18" charset="0"/>
                        </a:rPr>
                        <a:t>Combined CNN and VGG16 for better scalability and accuracy in food recognition.</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6</a:t>
                      </a:r>
                    </a:p>
                  </a:txBody>
                  <a:tcPr anchor="ctr"/>
                </a:tc>
                <a:tc>
                  <a:txBody>
                    <a:bodyPr/>
                    <a:lstStyle/>
                    <a:p>
                      <a:r>
                        <a:rPr lang="en-IN">
                          <a:latin typeface="Times New Roman" panose="02020603050405020304" pitchFamily="18" charset="0"/>
                          <a:cs typeface="Times New Roman" panose="02020603050405020304" pitchFamily="18" charset="0"/>
                        </a:rPr>
                        <a:t>2022</a:t>
                      </a:r>
                    </a:p>
                  </a:txBody>
                  <a:tcPr anchor="ctr"/>
                </a:tc>
                <a:tc>
                  <a:txBody>
                    <a:bodyPr/>
                    <a:lstStyle/>
                    <a:p>
                      <a:r>
                        <a:rPr lang="en-IN">
                          <a:latin typeface="Times New Roman" panose="02020603050405020304" pitchFamily="18" charset="0"/>
                          <a:cs typeface="Times New Roman" panose="02020603050405020304" pitchFamily="18" charset="0"/>
                        </a:rPr>
                        <a:t>James Harris, Mia Moore</a:t>
                      </a:r>
                    </a:p>
                  </a:txBody>
                  <a:tcPr anchor="ctr"/>
                </a:tc>
                <a:tc>
                  <a:txBody>
                    <a:bodyPr/>
                    <a:lstStyle/>
                    <a:p>
                      <a:r>
                        <a:rPr lang="en-US">
                          <a:latin typeface="Times New Roman" panose="02020603050405020304" pitchFamily="18" charset="0"/>
                          <a:cs typeface="Times New Roman" panose="02020603050405020304" pitchFamily="18" charset="0"/>
                        </a:rPr>
                        <a:t>"Food Image Classification Using Transfer Learning"</a:t>
                      </a:r>
                    </a:p>
                  </a:txBody>
                  <a:tcPr anchor="ctr"/>
                </a:tc>
                <a:tc>
                  <a:txBody>
                    <a:bodyPr/>
                    <a:lstStyle/>
                    <a:p>
                      <a:r>
                        <a:rPr lang="en-US" dirty="0">
                          <a:latin typeface="Times New Roman" panose="02020603050405020304" pitchFamily="18" charset="0"/>
                          <a:cs typeface="Times New Roman" panose="02020603050405020304" pitchFamily="18" charset="0"/>
                        </a:rPr>
                        <a:t>Focused on transfer learning techniques to enhance food classification accuracy.</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76153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9391" y="376518"/>
            <a:ext cx="3986849" cy="705522"/>
          </a:xfrm>
        </p:spPr>
        <p:txBody>
          <a:bodyPr/>
          <a:lstStyle/>
          <a:p>
            <a:r>
              <a:rPr lang="en-IN" sz="2800" b="1" dirty="0">
                <a:latin typeface="Times New Roman" panose="02020603050405020304" pitchFamily="18" charset="0"/>
                <a:cs typeface="Times New Roman" panose="02020603050405020304" pitchFamily="18" charset="0"/>
              </a:rPr>
              <a:t>IMPLEMENTATION</a:t>
            </a:r>
            <a:endParaRPr lang="en-IN" sz="2800" dirty="0"/>
          </a:p>
        </p:txBody>
      </p:sp>
      <p:sp>
        <p:nvSpPr>
          <p:cNvPr id="3" name="Regular Pentagon 2"/>
          <p:cNvSpPr/>
          <p:nvPr/>
        </p:nvSpPr>
        <p:spPr>
          <a:xfrm>
            <a:off x="1264725" y="1310640"/>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01</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6" name="Regular Pentagon 5"/>
          <p:cNvSpPr/>
          <p:nvPr/>
        </p:nvSpPr>
        <p:spPr>
          <a:xfrm>
            <a:off x="8654731" y="4396736"/>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05</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7" name="Regular Pentagon 6"/>
          <p:cNvSpPr/>
          <p:nvPr/>
        </p:nvSpPr>
        <p:spPr>
          <a:xfrm>
            <a:off x="5240971" y="2664041"/>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02</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8" name="Regular Pentagon 7"/>
          <p:cNvSpPr/>
          <p:nvPr/>
        </p:nvSpPr>
        <p:spPr>
          <a:xfrm>
            <a:off x="1379122" y="4445417"/>
            <a:ext cx="1203960" cy="1219198"/>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03</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9" name="Regular Pentagon 8"/>
          <p:cNvSpPr/>
          <p:nvPr/>
        </p:nvSpPr>
        <p:spPr>
          <a:xfrm>
            <a:off x="8654731" y="1208858"/>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04</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10" name="Rectangle 9"/>
          <p:cNvSpPr/>
          <p:nvPr/>
        </p:nvSpPr>
        <p:spPr>
          <a:xfrm>
            <a:off x="842810" y="2633561"/>
            <a:ext cx="2276585"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11" name="Rectangle 10"/>
          <p:cNvSpPr/>
          <p:nvPr/>
        </p:nvSpPr>
        <p:spPr>
          <a:xfrm>
            <a:off x="4541152" y="3962400"/>
            <a:ext cx="2603598" cy="483017"/>
          </a:xfrm>
          <a:prstGeom prst="rect">
            <a:avLst/>
          </a:prstGeom>
        </p:spPr>
        <p:txBody>
          <a:bodyPr wrap="none">
            <a:spAutoFit/>
          </a:bodyPr>
          <a:lstStyle/>
          <a:p>
            <a:pPr>
              <a:lnSpc>
                <a:spcPct val="115000"/>
              </a:lnSpc>
            </a:pPr>
            <a:r>
              <a:rPr lang="en-GB" sz="2400" dirty="0" err="1">
                <a:latin typeface="Times New Roman" panose="02020603050405020304" pitchFamily="18" charset="0"/>
                <a:ea typeface="Poppins" panose="00000500000000000000"/>
                <a:cs typeface="Times New Roman" panose="02020603050405020304" pitchFamily="18" charset="0"/>
                <a:sym typeface="Poppins" panose="00000500000000000000"/>
              </a:rPr>
              <a:t>Preprocessing</a:t>
            </a: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 steps</a:t>
            </a:r>
          </a:p>
        </p:txBody>
      </p:sp>
      <p:sp>
        <p:nvSpPr>
          <p:cNvPr id="12" name="Rectangle 11"/>
          <p:cNvSpPr/>
          <p:nvPr/>
        </p:nvSpPr>
        <p:spPr>
          <a:xfrm>
            <a:off x="578314" y="5821678"/>
            <a:ext cx="2805576"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3" name="Rectangle 12"/>
          <p:cNvSpPr/>
          <p:nvPr/>
        </p:nvSpPr>
        <p:spPr>
          <a:xfrm>
            <a:off x="8082639" y="2525335"/>
            <a:ext cx="2348143" cy="517065"/>
          </a:xfrm>
          <a:prstGeom prst="rect">
            <a:avLst/>
          </a:prstGeom>
        </p:spPr>
        <p:txBody>
          <a:bodyPr wrap="none">
            <a:spAutoFit/>
          </a:bodyPr>
          <a:lstStyle/>
          <a:p>
            <a:pPr>
              <a:lnSpc>
                <a:spcPct val="115000"/>
              </a:lnSpc>
            </a:pPr>
            <a:r>
              <a:rPr lang="en-US" sz="2400" dirty="0">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p>
        </p:txBody>
      </p:sp>
      <p:sp>
        <p:nvSpPr>
          <p:cNvPr id="14" name="Rectangle 13"/>
          <p:cNvSpPr/>
          <p:nvPr/>
        </p:nvSpPr>
        <p:spPr>
          <a:xfrm>
            <a:off x="7703722" y="5804653"/>
            <a:ext cx="3105978" cy="517065"/>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p>
        </p:txBody>
      </p:sp>
    </p:spTree>
    <p:extLst>
      <p:ext uri="{BB962C8B-B14F-4D97-AF65-F5344CB8AC3E}">
        <p14:creationId xmlns:p14="http://schemas.microsoft.com/office/powerpoint/2010/main" val="222141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664595" y="1188515"/>
            <a:ext cx="10332720" cy="4480970"/>
          </a:xfrm>
          <a:prstGeom prst="rect">
            <a:avLst/>
          </a:prstGeom>
          <a:noFill/>
        </p:spPr>
        <p:txBody>
          <a:bodyPr wrap="square">
            <a:spAutoFit/>
          </a:bodyPr>
          <a:lstStyle/>
          <a:p>
            <a:pPr algn="just">
              <a:lnSpc>
                <a:spcPct val="200000"/>
              </a:lnSpc>
              <a:spcAft>
                <a:spcPts val="80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Custom CNN:</a:t>
            </a:r>
          </a:p>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Custom CNN is a specialized deep learning architecture designed to optimize performance for specific tasks. Unlike standard pre-trained models, the Custom CNN can be tailored to extract relevant features from food images for classification and nutritional analysis. In this project, the Custom CNN is trained on a diverse dataset of food images, learning to differentiate between food categories like "Apple Pie," "Cheese Plate," and "Chocolate Cake." The model’s unique architecture allows it to perform real-time predictions while maintaining high accuracy. Its flexibility enables it to adapt to new food items and efficiently process images for both classification and nutritional information extraction.</a:t>
            </a:r>
          </a:p>
        </p:txBody>
      </p:sp>
    </p:spTree>
    <p:extLst>
      <p:ext uri="{BB962C8B-B14F-4D97-AF65-F5344CB8AC3E}">
        <p14:creationId xmlns:p14="http://schemas.microsoft.com/office/powerpoint/2010/main" val="1841293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162934"/>
          </a:xfrm>
          <a:prstGeom prst="rect">
            <a:avLst/>
          </a:prstGeom>
          <a:noFill/>
        </p:spPr>
        <p:txBody>
          <a:bodyPr wrap="square">
            <a:spAutoFit/>
          </a:bodyPr>
          <a:lstStyle/>
          <a:p>
            <a:r>
              <a:rPr lang="en-IN" b="1" dirty="0" err="1">
                <a:latin typeface="Times New Roman" panose="02020603050405020304" pitchFamily="18" charset="0"/>
                <a:cs typeface="Times New Roman" panose="02020603050405020304" pitchFamily="18" charset="0"/>
              </a:rPr>
              <a:t>SqueezeNet</a:t>
            </a:r>
            <a:r>
              <a:rPr lang="en-IN" b="1" dirty="0">
                <a:latin typeface="Times New Roman" panose="02020603050405020304" pitchFamily="18" charset="0"/>
                <a:cs typeface="Times New Roman" panose="02020603050405020304" pitchFamily="18" charset="0"/>
              </a:rPr>
              <a:t>:</a:t>
            </a:r>
            <a:endParaRPr lang="en-IN" dirty="0"/>
          </a:p>
          <a:p>
            <a:pPr algn="just">
              <a:lnSpc>
                <a:spcPct val="200000"/>
              </a:lnSpc>
              <a:spcAft>
                <a:spcPts val="8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SqueezeNet</a:t>
            </a:r>
            <a:r>
              <a:rPr lang="en-US" dirty="0">
                <a:latin typeface="Times New Roman" panose="02020603050405020304" pitchFamily="18" charset="0"/>
                <a:ea typeface="Calibri" panose="020F0502020204030204" pitchFamily="34" charset="0"/>
                <a:cs typeface="Times New Roman" panose="02020603050405020304" pitchFamily="18" charset="0"/>
              </a:rPr>
              <a:t> is a lightweight convolutional neural network designed for fast and efficient performance, making it ideal for mobile and edge devices with limited computational resources. By using fire modules, which consist of squeeze and expand layers, </a:t>
            </a:r>
            <a:r>
              <a:rPr lang="en-US" dirty="0" err="1">
                <a:latin typeface="Times New Roman" panose="02020603050405020304" pitchFamily="18" charset="0"/>
                <a:ea typeface="Calibri" panose="020F0502020204030204" pitchFamily="34" charset="0"/>
                <a:cs typeface="Times New Roman" panose="02020603050405020304" pitchFamily="18" charset="0"/>
              </a:rPr>
              <a:t>SqueezeNet</a:t>
            </a:r>
            <a:r>
              <a:rPr lang="en-US" dirty="0">
                <a:latin typeface="Times New Roman" panose="02020603050405020304" pitchFamily="18" charset="0"/>
                <a:ea typeface="Calibri" panose="020F0502020204030204" pitchFamily="34" charset="0"/>
                <a:cs typeface="Times New Roman" panose="02020603050405020304" pitchFamily="18" charset="0"/>
              </a:rPr>
              <a:t> reduces the number of parameters while preserving performance. In the </a:t>
            </a:r>
            <a:r>
              <a:rPr lang="en-US" dirty="0" err="1">
                <a:latin typeface="Times New Roman" panose="02020603050405020304" pitchFamily="18" charset="0"/>
                <a:ea typeface="Calibri" panose="020F0502020204030204" pitchFamily="34" charset="0"/>
                <a:cs typeface="Times New Roman" panose="02020603050405020304" pitchFamily="18" charset="0"/>
              </a:rPr>
              <a:t>Nutribot</a:t>
            </a:r>
            <a:r>
              <a:rPr lang="en-US" dirty="0">
                <a:latin typeface="Times New Roman" panose="02020603050405020304" pitchFamily="18" charset="0"/>
                <a:ea typeface="Calibri" panose="020F0502020204030204" pitchFamily="34" charset="0"/>
                <a:cs typeface="Times New Roman" panose="02020603050405020304" pitchFamily="18" charset="0"/>
              </a:rPr>
              <a:t> project, </a:t>
            </a:r>
            <a:r>
              <a:rPr lang="en-US" dirty="0" err="1">
                <a:latin typeface="Times New Roman" panose="02020603050405020304" pitchFamily="18" charset="0"/>
                <a:ea typeface="Calibri" panose="020F0502020204030204" pitchFamily="34" charset="0"/>
                <a:cs typeface="Times New Roman" panose="02020603050405020304" pitchFamily="18" charset="0"/>
              </a:rPr>
              <a:t>SqueezeNet</a:t>
            </a:r>
            <a:r>
              <a:rPr lang="en-US" dirty="0">
                <a:latin typeface="Times New Roman" panose="02020603050405020304" pitchFamily="18" charset="0"/>
                <a:ea typeface="Calibri" panose="020F0502020204030204" pitchFamily="34" charset="0"/>
                <a:cs typeface="Times New Roman" panose="02020603050405020304" pitchFamily="18" charset="0"/>
              </a:rPr>
              <a:t> is used to classify food images and predict nutritional data, such as calories, fats, and carbohydrates. Its efficient design enables real-time classification, making it well-suited for applications where computational resources are constrained, such as mobile apps for dietary tracking and health management.</a:t>
            </a:r>
          </a:p>
        </p:txBody>
      </p:sp>
    </p:spTree>
    <p:extLst>
      <p:ext uri="{BB962C8B-B14F-4D97-AF65-F5344CB8AC3E}">
        <p14:creationId xmlns:p14="http://schemas.microsoft.com/office/powerpoint/2010/main" val="130178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721041" y="1263619"/>
            <a:ext cx="10332720" cy="416293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VGG16:</a:t>
            </a:r>
            <a:endParaRPr lang="en-IN" dirty="0">
              <a:latin typeface="Times New Roman" panose="02020603050405020304" pitchFamily="18" charset="0"/>
              <a:cs typeface="Times New Roman" panose="02020603050405020304" pitchFamily="18" charset="0"/>
            </a:endParaRPr>
          </a:p>
          <a:p>
            <a:pPr algn="just">
              <a:lnSpc>
                <a:spcPct val="200000"/>
              </a:lnSpc>
              <a:spcAft>
                <a:spcPts val="800"/>
              </a:spcAft>
            </a:pPr>
            <a:r>
              <a:rPr lang="en-US" dirty="0">
                <a:latin typeface="Times New Roman" panose="02020603050405020304" pitchFamily="18" charset="0"/>
                <a:cs typeface="Times New Roman" panose="02020603050405020304" pitchFamily="18" charset="0"/>
              </a:rPr>
              <a:t>VGG16 is a widely recognized deep convolutional neural network known for its simplicity and effectiveness in image classification tasks. With 16 layers, VGG16 is designed to extract deep features from images by stacking convolutional layers followed by pooling layers. In this project, VGG16 is utilized to classify food items, such as "Donuts," "Ice Cream," and "Chicken Wings." Its deep architecture allows the model to capture intricate patterns in food images, ensuring accurate categorization of food types. VGG16's well-established performance and reliability make it a crucial model for food recognition and nutritional information extraction in </a:t>
            </a:r>
            <a:r>
              <a:rPr lang="en-US" dirty="0" err="1">
                <a:latin typeface="Times New Roman" panose="02020603050405020304" pitchFamily="18" charset="0"/>
                <a:cs typeface="Times New Roman" panose="02020603050405020304" pitchFamily="18" charset="0"/>
              </a:rPr>
              <a:t>Nutribot</a:t>
            </a:r>
            <a:r>
              <a:rPr lang="en-US"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7419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656758" y="0"/>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450542" y="831429"/>
            <a:ext cx="6467476" cy="5509200"/>
          </a:xfrm>
          <a:prstGeom prst="rect">
            <a:avLst/>
          </a:prstGeom>
          <a:noFill/>
        </p:spPr>
        <p:txBody>
          <a:bodyPr wrap="square" rtlCol="0">
            <a:spAutoFit/>
          </a:bodyPr>
          <a:lstStyle/>
          <a:p>
            <a:pPr algn="just"/>
            <a:r>
              <a:rPr lang="en-IN" sz="1400" b="1" dirty="0">
                <a:latin typeface="Times New Roman" panose="02020603050405020304" pitchFamily="18" charset="0"/>
                <a:cs typeface="Times New Roman" panose="02020603050405020304" pitchFamily="18" charset="0"/>
              </a:rPr>
              <a:t>Custom CNN :</a:t>
            </a:r>
          </a:p>
          <a:p>
            <a:pPr algn="just"/>
            <a:endParaRPr lang="en-IN" sz="1400"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Custom CNN model demonstrated strong performance across 12 food categories, excelling with Deviled Eggs (151), Frozen Yogurt (115), and Ice Cream (119). Cannoli (93), Cheese Plate (103), and French Fries (108) also performed well with minimal errors.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However, confusion patterns emerged between visually similar foods. Apple Pie was misclassified as Cheese Plate and Chicken Wings. Cheese Plate confused with Cheesecake and Macarons, while Cheesecake was mistaken for Chocolate Cake and Donuts. Donuts showed confusion with French Fries and Macarons, and Ice Cream with Frozen Yogurt.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These patterns highlight the need for improved differentiation of foods with similar textures and colors. The model would benefit from enhanced feature extraction, specialized data augmentation, or architectural refinements to reduce misclassifications among visually analogous categories.</a:t>
            </a:r>
            <a:r>
              <a:rPr lang="en-IN"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CAF38853-84CB-4193-AD18-6268FF31683B}"/>
              </a:ext>
            </a:extLst>
          </p:cNvPr>
          <p:cNvPicPr/>
          <p:nvPr/>
        </p:nvPicPr>
        <p:blipFill>
          <a:blip r:embed="rId2"/>
          <a:stretch>
            <a:fillRect/>
          </a:stretch>
        </p:blipFill>
        <p:spPr>
          <a:xfrm>
            <a:off x="6918018" y="1007165"/>
            <a:ext cx="4823440" cy="4598505"/>
          </a:xfrm>
          <a:prstGeom prst="rect">
            <a:avLst/>
          </a:prstGeom>
        </p:spPr>
      </p:pic>
    </p:spTree>
    <p:extLst>
      <p:ext uri="{BB962C8B-B14F-4D97-AF65-F5344CB8AC3E}">
        <p14:creationId xmlns:p14="http://schemas.microsoft.com/office/powerpoint/2010/main" val="2191312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699621" y="-66973"/>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219612" y="1190753"/>
            <a:ext cx="6133150" cy="5078313"/>
          </a:xfrm>
          <a:prstGeom prst="rect">
            <a:avLst/>
          </a:prstGeom>
          <a:noFill/>
        </p:spPr>
        <p:txBody>
          <a:bodyPr wrap="square" rtlCol="0">
            <a:spAutoFit/>
          </a:bodyPr>
          <a:lstStyle/>
          <a:p>
            <a:pPr algn="just"/>
            <a:r>
              <a:rPr lang="en-US" b="1" dirty="0" err="1">
                <a:latin typeface="Times New Roman" panose="02020603050405020304" pitchFamily="18" charset="0"/>
                <a:cs typeface="Times New Roman" panose="02020603050405020304" pitchFamily="18" charset="0"/>
              </a:rPr>
              <a:t>SqueezeNet</a:t>
            </a:r>
            <a:r>
              <a:rPr lang="en-US" b="1"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SqueezeNet1_1 model demonstrated robust performance across all 12 food categories. Top performers included Deviled Eggs (161 correct), Cheese Plate (151), French Fries (147), and Frozen Yogurt (142). Macarons (141), Chicken Wings (124), Chocolate Cake (119), and Ice Cream (119) also showed strong results. Apple Pie achieved 110 correct predictions, Cannoli 116, Cheesecake 96, and Donuts 118.</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Despite high accuracy, confusion patterns emerged between visually similar foods. Cheese Plate showed confusion with Cheesecake, while Cheesecake was misclassified as Chicken Wings and Donuts. Donuts confused with French Fries, Ice Cream with Frozen Yogurt, and Macarons with Donuts. These misclassifications highlight the challenge of distinguishing foods with similar textures and appearances, suggesting room for improvement through enhanced feature extraction or targeted augmentation..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189E9D2-8033-4D9C-93F3-44FC06789D62}"/>
              </a:ext>
            </a:extLst>
          </p:cNvPr>
          <p:cNvPicPr/>
          <p:nvPr/>
        </p:nvPicPr>
        <p:blipFill>
          <a:blip r:embed="rId2"/>
          <a:stretch>
            <a:fillRect/>
          </a:stretch>
        </p:blipFill>
        <p:spPr>
          <a:xfrm>
            <a:off x="6742664" y="993914"/>
            <a:ext cx="4945753" cy="4797286"/>
          </a:xfrm>
          <a:prstGeom prst="rect">
            <a:avLst/>
          </a:prstGeom>
        </p:spPr>
      </p:pic>
    </p:spTree>
    <p:extLst>
      <p:ext uri="{BB962C8B-B14F-4D97-AF65-F5344CB8AC3E}">
        <p14:creationId xmlns:p14="http://schemas.microsoft.com/office/powerpoint/2010/main" val="1443976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718877" y="0"/>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386385" y="1352901"/>
            <a:ext cx="6055208" cy="4524315"/>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VGG16 :</a:t>
            </a:r>
          </a:p>
          <a:p>
            <a:pPr algn="just"/>
            <a:endParaRPr lang="en-US"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VGG16 model demonstrated exceptional performance across all food categories. Top performers included Cheese Plate (160 correct), Deviled Eggs (151), Macarons (144), Donuts (141), and Frozen Yogurt (138). Apple Pie achieved 127 correct predictions, followed by Chicken Wings (118), Cannoli (115), French Fries (113), Ice Cream (113), Chocolate Cake (106), and Cheesecake (98).</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Despite strong overall accuracy, confusion patterns emerged between visually similar foods. Cheese Plate showed minor confusion with Cheesecake, while Cheesecake was misclassified as Chicken Wings and Chocolate Cake. Donuts confused with French Fries, and Ice Cream with Frozen Yogurt. Apple Pie faced some misclassifications as Chicken Wings and Cheese Plate. These patterns suggest the model distinguishes most categories well but would benefit from enhanced feature extraction to better differentiate foods with similar textures and appearances.</a:t>
            </a:r>
          </a:p>
        </p:txBody>
      </p:sp>
      <p:pic>
        <p:nvPicPr>
          <p:cNvPr id="6" name="Picture 5">
            <a:extLst>
              <a:ext uri="{FF2B5EF4-FFF2-40B4-BE49-F238E27FC236}">
                <a16:creationId xmlns:a16="http://schemas.microsoft.com/office/drawing/2014/main" id="{0C8E031F-DCB2-4170-9861-9FED9CA8EF5C}"/>
              </a:ext>
            </a:extLst>
          </p:cNvPr>
          <p:cNvPicPr/>
          <p:nvPr/>
        </p:nvPicPr>
        <p:blipFill>
          <a:blip r:embed="rId2"/>
          <a:stretch>
            <a:fillRect/>
          </a:stretch>
        </p:blipFill>
        <p:spPr>
          <a:xfrm>
            <a:off x="6578461" y="1205948"/>
            <a:ext cx="5083451" cy="4572000"/>
          </a:xfrm>
          <a:prstGeom prst="rect">
            <a:avLst/>
          </a:prstGeom>
        </p:spPr>
      </p:pic>
    </p:spTree>
    <p:extLst>
      <p:ext uri="{BB962C8B-B14F-4D97-AF65-F5344CB8AC3E}">
        <p14:creationId xmlns:p14="http://schemas.microsoft.com/office/powerpoint/2010/main" val="1873083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971" y="2509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335163" y="942722"/>
            <a:ext cx="5221575" cy="5016758"/>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Use Case Diagram: </a:t>
            </a:r>
            <a:r>
              <a:rPr lang="en-US" sz="16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
        <p:nvSpPr>
          <p:cNvPr id="6" name="TextBox 5">
            <a:extLst>
              <a:ext uri="{FF2B5EF4-FFF2-40B4-BE49-F238E27FC236}">
                <a16:creationId xmlns:a16="http://schemas.microsoft.com/office/drawing/2014/main" id="{078E548C-2650-C1F5-4C0D-AB07BFA320F1}"/>
              </a:ext>
            </a:extLst>
          </p:cNvPr>
          <p:cNvSpPr txBox="1"/>
          <p:nvPr/>
        </p:nvSpPr>
        <p:spPr>
          <a:xfrm>
            <a:off x="7490848" y="5774814"/>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Use Case Diagram</a:t>
            </a:r>
            <a:endParaRPr lang="en-IN" dirty="0"/>
          </a:p>
        </p:txBody>
      </p:sp>
      <p:pic>
        <p:nvPicPr>
          <p:cNvPr id="7" name="Picture 6">
            <a:extLst>
              <a:ext uri="{FF2B5EF4-FFF2-40B4-BE49-F238E27FC236}">
                <a16:creationId xmlns:a16="http://schemas.microsoft.com/office/drawing/2014/main" id="{F92BBC3F-E4C2-4624-9D46-07B42FBC5F93}"/>
              </a:ext>
            </a:extLst>
          </p:cNvPr>
          <p:cNvPicPr/>
          <p:nvPr/>
        </p:nvPicPr>
        <p:blipFill>
          <a:blip r:embed="rId2"/>
          <a:stretch>
            <a:fillRect/>
          </a:stretch>
        </p:blipFill>
        <p:spPr>
          <a:xfrm>
            <a:off x="6096000" y="1585497"/>
            <a:ext cx="5067300" cy="3209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96479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30436" y="115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41140" y="1320335"/>
            <a:ext cx="4573395" cy="4031873"/>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Class Diagram:</a:t>
            </a:r>
          </a:p>
          <a:p>
            <a:pPr algn="just">
              <a:lnSpc>
                <a:spcPct val="200000"/>
              </a:lnSpc>
            </a:pPr>
            <a:r>
              <a:rPr lang="en-US" sz="16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pic>
        <p:nvPicPr>
          <p:cNvPr id="5" name="Picture 4">
            <a:extLst>
              <a:ext uri="{FF2B5EF4-FFF2-40B4-BE49-F238E27FC236}">
                <a16:creationId xmlns:a16="http://schemas.microsoft.com/office/drawing/2014/main" id="{53A71082-0BDE-4BBD-97D8-DDC6D3035CDD}"/>
              </a:ext>
            </a:extLst>
          </p:cNvPr>
          <p:cNvPicPr/>
          <p:nvPr/>
        </p:nvPicPr>
        <p:blipFill>
          <a:blip r:embed="rId2"/>
          <a:stretch>
            <a:fillRect/>
          </a:stretch>
        </p:blipFill>
        <p:spPr>
          <a:xfrm>
            <a:off x="6392310" y="1845608"/>
            <a:ext cx="4257675" cy="2981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50084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30519" y="3150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6475" y="1464788"/>
            <a:ext cx="5018903"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Sequence Diagram: </a:t>
            </a:r>
            <a:r>
              <a:rPr lang="en-US" sz="16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p:txBody>
      </p:sp>
      <p:sp>
        <p:nvSpPr>
          <p:cNvPr id="6" name="TextBox 5">
            <a:extLst>
              <a:ext uri="{FF2B5EF4-FFF2-40B4-BE49-F238E27FC236}">
                <a16:creationId xmlns:a16="http://schemas.microsoft.com/office/drawing/2014/main" id="{2562C76A-D81F-3349-725F-F4AE2E28506F}"/>
              </a:ext>
            </a:extLst>
          </p:cNvPr>
          <p:cNvSpPr txBox="1"/>
          <p:nvPr/>
        </p:nvSpPr>
        <p:spPr>
          <a:xfrm>
            <a:off x="7366867" y="5928425"/>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Sequence Diagram</a:t>
            </a:r>
            <a:endParaRPr lang="en-IN" dirty="0"/>
          </a:p>
        </p:txBody>
      </p:sp>
      <p:pic>
        <p:nvPicPr>
          <p:cNvPr id="7" name="Picture 6">
            <a:extLst>
              <a:ext uri="{FF2B5EF4-FFF2-40B4-BE49-F238E27FC236}">
                <a16:creationId xmlns:a16="http://schemas.microsoft.com/office/drawing/2014/main" id="{56E7E259-EDA6-44D6-9E89-EB6CEC9224A4}"/>
              </a:ext>
            </a:extLst>
          </p:cNvPr>
          <p:cNvPicPr/>
          <p:nvPr/>
        </p:nvPicPr>
        <p:blipFill>
          <a:blip r:embed="rId2"/>
          <a:stretch>
            <a:fillRect/>
          </a:stretch>
        </p:blipFill>
        <p:spPr>
          <a:xfrm>
            <a:off x="7189096" y="1652587"/>
            <a:ext cx="3724275" cy="35528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7644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1756" y="29114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87737" y="1009932"/>
            <a:ext cx="5328657" cy="4524315"/>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Collaboration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
        <p:nvSpPr>
          <p:cNvPr id="6" name="TextBox 5">
            <a:extLst>
              <a:ext uri="{FF2B5EF4-FFF2-40B4-BE49-F238E27FC236}">
                <a16:creationId xmlns:a16="http://schemas.microsoft.com/office/drawing/2014/main" id="{E1AF7115-AC39-82E7-6D66-E4E2AD1F0A96}"/>
              </a:ext>
            </a:extLst>
          </p:cNvPr>
          <p:cNvSpPr txBox="1"/>
          <p:nvPr/>
        </p:nvSpPr>
        <p:spPr>
          <a:xfrm>
            <a:off x="7335361" y="6104967"/>
            <a:ext cx="31089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Collaboration Diagram</a:t>
            </a:r>
            <a:endParaRPr lang="en-IN" dirty="0"/>
          </a:p>
        </p:txBody>
      </p:sp>
      <p:pic>
        <p:nvPicPr>
          <p:cNvPr id="7" name="Picture 6">
            <a:extLst>
              <a:ext uri="{FF2B5EF4-FFF2-40B4-BE49-F238E27FC236}">
                <a16:creationId xmlns:a16="http://schemas.microsoft.com/office/drawing/2014/main" id="{649A6049-EF49-4F76-A02A-AACEAE39F43E}"/>
              </a:ext>
            </a:extLst>
          </p:cNvPr>
          <p:cNvPicPr/>
          <p:nvPr/>
        </p:nvPicPr>
        <p:blipFill>
          <a:blip r:embed="rId2"/>
          <a:stretch>
            <a:fillRect/>
          </a:stretch>
        </p:blipFill>
        <p:spPr>
          <a:xfrm>
            <a:off x="6775138" y="1820976"/>
            <a:ext cx="4429125" cy="29022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86616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1558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3213" y="1086694"/>
            <a:ext cx="10396024"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Deployment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pic>
        <p:nvPicPr>
          <p:cNvPr id="6" name="Picture 5">
            <a:extLst>
              <a:ext uri="{FF2B5EF4-FFF2-40B4-BE49-F238E27FC236}">
                <a16:creationId xmlns:a16="http://schemas.microsoft.com/office/drawing/2014/main" id="{9AB6E3E3-3553-4420-9AD4-8CA050ECF6DF}"/>
              </a:ext>
            </a:extLst>
          </p:cNvPr>
          <p:cNvPicPr/>
          <p:nvPr/>
        </p:nvPicPr>
        <p:blipFill>
          <a:blip r:embed="rId2"/>
          <a:stretch>
            <a:fillRect/>
          </a:stretch>
        </p:blipFill>
        <p:spPr>
          <a:xfrm>
            <a:off x="3623432" y="3828206"/>
            <a:ext cx="5315585" cy="1943100"/>
          </a:xfrm>
          <a:prstGeom prst="rect">
            <a:avLst/>
          </a:prstGeom>
        </p:spPr>
      </p:pic>
    </p:spTree>
    <p:extLst>
      <p:ext uri="{BB962C8B-B14F-4D97-AF65-F5344CB8AC3E}">
        <p14:creationId xmlns:p14="http://schemas.microsoft.com/office/powerpoint/2010/main" val="4137546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4098" y="31499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97629" y="1661586"/>
            <a:ext cx="5500119"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Activity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
        <p:nvSpPr>
          <p:cNvPr id="6" name="TextBox 5">
            <a:extLst>
              <a:ext uri="{FF2B5EF4-FFF2-40B4-BE49-F238E27FC236}">
                <a16:creationId xmlns:a16="http://schemas.microsoft.com/office/drawing/2014/main" id="{B3813490-685B-C9A5-5A39-6CC2137B09DD}"/>
              </a:ext>
            </a:extLst>
          </p:cNvPr>
          <p:cNvSpPr txBox="1"/>
          <p:nvPr/>
        </p:nvSpPr>
        <p:spPr>
          <a:xfrm>
            <a:off x="8148586" y="5949471"/>
            <a:ext cx="245037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Activity Diagram</a:t>
            </a:r>
            <a:endParaRPr lang="en-IN" dirty="0"/>
          </a:p>
        </p:txBody>
      </p:sp>
      <p:pic>
        <p:nvPicPr>
          <p:cNvPr id="8" name="Picture 7">
            <a:extLst>
              <a:ext uri="{FF2B5EF4-FFF2-40B4-BE49-F238E27FC236}">
                <a16:creationId xmlns:a16="http://schemas.microsoft.com/office/drawing/2014/main" id="{D3D442C6-247B-47F5-84F3-19715E8DC4C9}"/>
              </a:ext>
            </a:extLst>
          </p:cNvPr>
          <p:cNvPicPr/>
          <p:nvPr/>
        </p:nvPicPr>
        <p:blipFill>
          <a:blip r:embed="rId2"/>
          <a:stretch>
            <a:fillRect/>
          </a:stretch>
        </p:blipFill>
        <p:spPr>
          <a:xfrm>
            <a:off x="7264676" y="1111733"/>
            <a:ext cx="3467100" cy="3971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64225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9416" y="26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350846" y="1196249"/>
            <a:ext cx="9933889"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Component Diagram</a:t>
            </a:r>
            <a:r>
              <a:rPr lang="en-US" sz="1600" dirty="0">
                <a:latin typeface="Times New Roman" panose="02020603050405020304" pitchFamily="18" charset="0"/>
                <a:cs typeface="Times New Roman" panose="02020603050405020304" pitchFamily="18" charset="0"/>
              </a:rPr>
              <a:t>:</a:t>
            </a:r>
          </a:p>
          <a:p>
            <a:pPr algn="just">
              <a:lnSpc>
                <a:spcPct val="200000"/>
              </a:lnSpc>
            </a:pPr>
            <a:r>
              <a:rPr lang="en-US" sz="16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600" b="1" dirty="0">
                <a:latin typeface="Times New Roman" panose="02020603050405020304" pitchFamily="18" charset="0"/>
                <a:cs typeface="Times New Roman" panose="02020603050405020304" pitchFamily="18" charset="0"/>
              </a:rPr>
              <a:t>c</a:t>
            </a:r>
            <a:r>
              <a:rPr lang="en-US" sz="16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pic>
        <p:nvPicPr>
          <p:cNvPr id="6" name="Picture 5">
            <a:extLst>
              <a:ext uri="{FF2B5EF4-FFF2-40B4-BE49-F238E27FC236}">
                <a16:creationId xmlns:a16="http://schemas.microsoft.com/office/drawing/2014/main" id="{25FDB093-6257-4662-81A3-6C30731D93D0}"/>
              </a:ext>
            </a:extLst>
          </p:cNvPr>
          <p:cNvPicPr/>
          <p:nvPr/>
        </p:nvPicPr>
        <p:blipFill>
          <a:blip r:embed="rId2"/>
          <a:stretch>
            <a:fillRect/>
          </a:stretch>
        </p:blipFill>
        <p:spPr>
          <a:xfrm>
            <a:off x="3331527" y="3997642"/>
            <a:ext cx="5277485" cy="1400175"/>
          </a:xfrm>
          <a:prstGeom prst="rect">
            <a:avLst/>
          </a:prstGeom>
        </p:spPr>
      </p:pic>
    </p:spTree>
    <p:extLst>
      <p:ext uri="{BB962C8B-B14F-4D97-AF65-F5344CB8AC3E}">
        <p14:creationId xmlns:p14="http://schemas.microsoft.com/office/powerpoint/2010/main" val="3151533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11490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522190" y="746832"/>
            <a:ext cx="11147620" cy="22640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ER Diagram: </a:t>
            </a:r>
            <a:r>
              <a:rPr lang="en-US" sz="16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pic>
        <p:nvPicPr>
          <p:cNvPr id="5" name="Picture 4">
            <a:extLst>
              <a:ext uri="{FF2B5EF4-FFF2-40B4-BE49-F238E27FC236}">
                <a16:creationId xmlns:a16="http://schemas.microsoft.com/office/drawing/2014/main" id="{E766A30F-32D7-4849-BD6A-7357811113DE}"/>
              </a:ext>
            </a:extLst>
          </p:cNvPr>
          <p:cNvPicPr/>
          <p:nvPr/>
        </p:nvPicPr>
        <p:blipFill>
          <a:blip r:embed="rId2"/>
          <a:stretch>
            <a:fillRect/>
          </a:stretch>
        </p:blipFill>
        <p:spPr>
          <a:xfrm>
            <a:off x="3230245" y="3154662"/>
            <a:ext cx="5731510" cy="31788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22408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2734" y="16049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77426" y="1915836"/>
            <a:ext cx="10295177"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DFD Diagram: </a:t>
            </a:r>
            <a:r>
              <a:rPr lang="en-US" sz="16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049557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8384" y="9751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42386" y="573966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6" name="Picture 5">
            <a:extLst>
              <a:ext uri="{FF2B5EF4-FFF2-40B4-BE49-F238E27FC236}">
                <a16:creationId xmlns:a16="http://schemas.microsoft.com/office/drawing/2014/main" id="{BC8DC94A-D3F0-4DF7-A647-7126CA7F59F0}"/>
              </a:ext>
            </a:extLst>
          </p:cNvPr>
          <p:cNvPicPr/>
          <p:nvPr/>
        </p:nvPicPr>
        <p:blipFill>
          <a:blip r:embed="rId2"/>
          <a:stretch>
            <a:fillRect/>
          </a:stretch>
        </p:blipFill>
        <p:spPr>
          <a:xfrm>
            <a:off x="2928731" y="1166191"/>
            <a:ext cx="6016486" cy="41346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0801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5671" y="18040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028998" y="592712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6" name="Picture 5">
            <a:extLst>
              <a:ext uri="{FF2B5EF4-FFF2-40B4-BE49-F238E27FC236}">
                <a16:creationId xmlns:a16="http://schemas.microsoft.com/office/drawing/2014/main" id="{5AE96BBA-D68E-4110-BBA3-F36E593BAF71}"/>
              </a:ext>
            </a:extLst>
          </p:cNvPr>
          <p:cNvPicPr/>
          <p:nvPr/>
        </p:nvPicPr>
        <p:blipFill>
          <a:blip r:embed="rId2"/>
          <a:stretch>
            <a:fillRect/>
          </a:stretch>
        </p:blipFill>
        <p:spPr>
          <a:xfrm>
            <a:off x="2637183" y="1616765"/>
            <a:ext cx="6665843" cy="35780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48780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485006" y="972693"/>
            <a:ext cx="4504872" cy="5434180"/>
          </a:xfrm>
          <a:prstGeom prst="rect">
            <a:avLst/>
          </a:prstGeom>
        </p:spPr>
        <p:txBody>
          <a:bodyPr wrap="square">
            <a:spAutoFit/>
          </a:bodyPr>
          <a:lstStyle/>
          <a:p>
            <a:pPr algn="just">
              <a:lnSpc>
                <a:spcPct val="200000"/>
              </a:lnSpc>
            </a:pPr>
            <a:r>
              <a:rPr lang="en-US" sz="1600" b="1" dirty="0">
                <a:latin typeface="Times New Roman" panose="02020603050405020304" pitchFamily="18" charset="0"/>
                <a:ea typeface="Calibri" panose="020F0502020204030204" pitchFamily="34" charset="0"/>
                <a:cs typeface="Times New Roman" panose="02020603050405020304" pitchFamily="18" charset="0"/>
              </a:rPr>
              <a:t>REGISTRATION PAGE: </a:t>
            </a: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Registration Page</a:t>
            </a:r>
            <a:r>
              <a:rPr lang="en-US" sz="1600" dirty="0">
                <a:latin typeface="Times New Roman" panose="02020603050405020304" pitchFamily="18" charset="0"/>
                <a:cs typeface="Times New Roman" panose="02020603050405020304" pitchFamily="18" charset="0"/>
              </a:rPr>
              <a:t> allows new users to create an account and access the </a:t>
            </a:r>
            <a:r>
              <a:rPr lang="en-US" sz="1600" dirty="0" err="1">
                <a:latin typeface="Times New Roman" panose="02020603050405020304" pitchFamily="18" charset="0"/>
                <a:cs typeface="Times New Roman" panose="02020603050405020304" pitchFamily="18" charset="0"/>
              </a:rPr>
              <a:t>Nutribot</a:t>
            </a:r>
            <a:r>
              <a:rPr lang="en-US" sz="1600" dirty="0">
                <a:latin typeface="Times New Roman" panose="02020603050405020304" pitchFamily="18" charset="0"/>
                <a:cs typeface="Times New Roman" panose="02020603050405020304" pitchFamily="18" charset="0"/>
              </a:rPr>
              <a:t> system. The page contains form fields where users are required to enter their name, email address, and password. Upon submitting the form, the system creates an account for the user, enabling them to make predictions on food images and track their nutritional information. This registration process ensures that only authorized users can access the platform and its features.</a:t>
            </a:r>
            <a:endParaRPr lang="en-IN" sz="1600" dirty="0">
              <a:latin typeface="Times New Roman" panose="02020603050405020304" pitchFamily="18" charset="0"/>
              <a:cs typeface="Times New Roman" panose="02020603050405020304" pitchFamily="18" charset="0"/>
            </a:endParaRPr>
          </a:p>
          <a:p>
            <a:pPr algn="just">
              <a:lnSpc>
                <a:spcPct val="200000"/>
              </a:lnSpc>
            </a:pP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30E3494-57A7-4F6E-9F0C-6417F555C4AF}"/>
              </a:ext>
            </a:extLst>
          </p:cNvPr>
          <p:cNvPicPr/>
          <p:nvPr/>
        </p:nvPicPr>
        <p:blipFill>
          <a:blip r:embed="rId2"/>
          <a:stretch>
            <a:fillRect/>
          </a:stretch>
        </p:blipFill>
        <p:spPr>
          <a:xfrm>
            <a:off x="5504622" y="1194172"/>
            <a:ext cx="5731510" cy="4045585"/>
          </a:xfrm>
          <a:prstGeom prst="rect">
            <a:avLst/>
          </a:prstGeom>
        </p:spPr>
      </p:pic>
    </p:spTree>
    <p:extLst>
      <p:ext uri="{BB962C8B-B14F-4D97-AF65-F5344CB8AC3E}">
        <p14:creationId xmlns:p14="http://schemas.microsoft.com/office/powerpoint/2010/main" val="3707766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224210" y="1353437"/>
            <a:ext cx="5026463" cy="4449295"/>
          </a:xfrm>
          <a:prstGeom prst="rect">
            <a:avLst/>
          </a:prstGeom>
        </p:spPr>
        <p:txBody>
          <a:bodyPr wrap="square">
            <a:spAutoFit/>
          </a:bodyPr>
          <a:lstStyle/>
          <a:p>
            <a:pPr algn="just">
              <a:lnSpc>
                <a:spcPct val="200000"/>
              </a:lnSpc>
            </a:pPr>
            <a:r>
              <a:rPr lang="en-US" sz="1600" b="1" dirty="0">
                <a:latin typeface="Times New Roman" panose="02020603050405020304" pitchFamily="18" charset="0"/>
                <a:ea typeface="Calibri" panose="020F0502020204030204" pitchFamily="34" charset="0"/>
                <a:cs typeface="Times New Roman" panose="02020603050405020304" pitchFamily="18" charset="0"/>
              </a:rPr>
              <a:t>LOGIN PAGE: </a:t>
            </a: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Login Page</a:t>
            </a:r>
            <a:r>
              <a:rPr lang="en-US" sz="1600" dirty="0">
                <a:latin typeface="Times New Roman" panose="02020603050405020304" pitchFamily="18" charset="0"/>
                <a:cs typeface="Times New Roman" panose="02020603050405020304" pitchFamily="18" charset="0"/>
              </a:rPr>
              <a:t> serves as the gateway for registered users to securely access their accounts. The page provides input fields for users to enter their email address and password. Once users authenticate themselves, they are granted access to the </a:t>
            </a:r>
            <a:r>
              <a:rPr lang="en-US" sz="1600" dirty="0" err="1">
                <a:latin typeface="Times New Roman" panose="02020603050405020304" pitchFamily="18" charset="0"/>
                <a:cs typeface="Times New Roman" panose="02020603050405020304" pitchFamily="18" charset="0"/>
              </a:rPr>
              <a:t>Nutribot</a:t>
            </a:r>
            <a:r>
              <a:rPr lang="en-US" sz="1600" dirty="0">
                <a:latin typeface="Times New Roman" panose="02020603050405020304" pitchFamily="18" charset="0"/>
                <a:cs typeface="Times New Roman" panose="02020603050405020304" pitchFamily="18" charset="0"/>
              </a:rPr>
              <a:t> system, allowing them to upload food images for classification and receive nutritional predictions. This page ensures that only authorized users can use the system, protecting sensitive data and user privacy.</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8265FD5-8D89-46A1-9AA8-1CF75F771988}"/>
              </a:ext>
            </a:extLst>
          </p:cNvPr>
          <p:cNvPicPr/>
          <p:nvPr/>
        </p:nvPicPr>
        <p:blipFill>
          <a:blip r:embed="rId2"/>
          <a:stretch>
            <a:fillRect/>
          </a:stretch>
        </p:blipFill>
        <p:spPr>
          <a:xfrm>
            <a:off x="5573329" y="1711819"/>
            <a:ext cx="5731510" cy="3732530"/>
          </a:xfrm>
          <a:prstGeom prst="rect">
            <a:avLst/>
          </a:prstGeom>
        </p:spPr>
      </p:pic>
    </p:spTree>
    <p:extLst>
      <p:ext uri="{BB962C8B-B14F-4D97-AF65-F5344CB8AC3E}">
        <p14:creationId xmlns:p14="http://schemas.microsoft.com/office/powerpoint/2010/main" val="1524711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457739" y="2081704"/>
            <a:ext cx="8521148" cy="2951064"/>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PREDICTION PAGE: </a:t>
            </a:r>
            <a:r>
              <a:rPr lang="en-US" dirty="0">
                <a:latin typeface="Times New Roman" panose="02020603050405020304" pitchFamily="18" charset="0"/>
                <a:cs typeface="Times New Roman" panose="02020603050405020304" pitchFamily="18" charset="0"/>
              </a:rPr>
              <a:t>The Prediction Page allows users to upload food images for classification. Once an image is uploaded, the system processes the image using deep learning models such as Custom CNN,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and VGG16 to predict the food category (e.g., "Apple Pie," "Cheese Plate," "Chicken Wings") and provide detailed nutritional information (e.g., calories, fat, carbohydrates, protein). The page offers an intuitive, user-friendly interface for quick and accurate food classification, helping users track their dietary intake and make informed health decisions.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205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8F40C8-57BE-4587-8B95-CBFBEBDEECDE}"/>
              </a:ext>
            </a:extLst>
          </p:cNvPr>
          <p:cNvPicPr/>
          <p:nvPr/>
        </p:nvPicPr>
        <p:blipFill>
          <a:blip r:embed="rId2"/>
          <a:stretch>
            <a:fillRect/>
          </a:stretch>
        </p:blipFill>
        <p:spPr>
          <a:xfrm>
            <a:off x="1043637" y="277054"/>
            <a:ext cx="5731510" cy="2990850"/>
          </a:xfrm>
          <a:prstGeom prst="rect">
            <a:avLst/>
          </a:prstGeom>
        </p:spPr>
      </p:pic>
      <p:pic>
        <p:nvPicPr>
          <p:cNvPr id="5" name="Picture 4">
            <a:extLst>
              <a:ext uri="{FF2B5EF4-FFF2-40B4-BE49-F238E27FC236}">
                <a16:creationId xmlns:a16="http://schemas.microsoft.com/office/drawing/2014/main" id="{0D2839E1-8FF7-4F42-AAAF-A45C9DE0CC4B}"/>
              </a:ext>
            </a:extLst>
          </p:cNvPr>
          <p:cNvPicPr/>
          <p:nvPr/>
        </p:nvPicPr>
        <p:blipFill>
          <a:blip r:embed="rId3"/>
          <a:stretch>
            <a:fillRect/>
          </a:stretch>
        </p:blipFill>
        <p:spPr>
          <a:xfrm>
            <a:off x="5363845" y="3590097"/>
            <a:ext cx="5731510" cy="2749412"/>
          </a:xfrm>
          <a:prstGeom prst="rect">
            <a:avLst/>
          </a:prstGeom>
        </p:spPr>
      </p:pic>
    </p:spTree>
    <p:extLst>
      <p:ext uri="{BB962C8B-B14F-4D97-AF65-F5344CB8AC3E}">
        <p14:creationId xmlns:p14="http://schemas.microsoft.com/office/powerpoint/2010/main" val="494113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A0A150-E5BC-4DF6-890E-6E230E9168FD}"/>
              </a:ext>
            </a:extLst>
          </p:cNvPr>
          <p:cNvPicPr/>
          <p:nvPr/>
        </p:nvPicPr>
        <p:blipFill>
          <a:blip r:embed="rId2"/>
          <a:stretch>
            <a:fillRect/>
          </a:stretch>
        </p:blipFill>
        <p:spPr>
          <a:xfrm>
            <a:off x="871357" y="631756"/>
            <a:ext cx="6059529" cy="2906574"/>
          </a:xfrm>
          <a:prstGeom prst="rect">
            <a:avLst/>
          </a:prstGeom>
        </p:spPr>
      </p:pic>
      <p:pic>
        <p:nvPicPr>
          <p:cNvPr id="3" name="Picture 2">
            <a:extLst>
              <a:ext uri="{FF2B5EF4-FFF2-40B4-BE49-F238E27FC236}">
                <a16:creationId xmlns:a16="http://schemas.microsoft.com/office/drawing/2014/main" id="{D989CAC9-F642-4D58-A3F9-6AD90AC6EDB6}"/>
              </a:ext>
            </a:extLst>
          </p:cNvPr>
          <p:cNvPicPr>
            <a:picLocks noChangeAspect="1"/>
          </p:cNvPicPr>
          <p:nvPr/>
        </p:nvPicPr>
        <p:blipFill>
          <a:blip r:embed="rId3"/>
          <a:stretch>
            <a:fillRect/>
          </a:stretch>
        </p:blipFill>
        <p:spPr>
          <a:xfrm>
            <a:off x="5234608" y="3154018"/>
            <a:ext cx="6679095" cy="3379304"/>
          </a:xfrm>
          <a:prstGeom prst="rect">
            <a:avLst/>
          </a:prstGeom>
        </p:spPr>
      </p:pic>
    </p:spTree>
    <p:extLst>
      <p:ext uri="{BB962C8B-B14F-4D97-AF65-F5344CB8AC3E}">
        <p14:creationId xmlns:p14="http://schemas.microsoft.com/office/powerpoint/2010/main" val="3825234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0375" y="1323968"/>
            <a:ext cx="9911250" cy="4613058"/>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In conclusion, the Custom CNN and VGG16 models demonstrated strong performance in food classification tasks, achieving high accuracy across most categories. Both models showed excellent ability to correctly predict food items like Donuts, Macarons, and Deviled Eggs, with minimal misclassifications. However, some categories, such as Cheesecake, Chicken Wings, and French Fries, displayed confusion with visually similar food items, indicating that the models could benefit from further refinement in differentiating these classes. Despite these challenges, the models successfully identified a wide range of food items, providing valuable insights for food classification systems. The results highlight the effectiveness of deep learning models like CNN and VGG16 in real-world applications such as food recognition, which can aid in tasks like nutritional analysis, automated menu classification, and food tracking. Future work should focus on improving the model's ability to distinguish between visually similar categories, potentially through more data augmentation or advanced architectures.</a:t>
            </a:r>
          </a:p>
        </p:txBody>
      </p:sp>
      <p:sp>
        <p:nvSpPr>
          <p:cNvPr id="3" name="Rectangle 2"/>
          <p:cNvSpPr/>
          <p:nvPr/>
        </p:nvSpPr>
        <p:spPr>
          <a:xfrm>
            <a:off x="2745228" y="98549"/>
            <a:ext cx="5534361" cy="738664"/>
          </a:xfrm>
          <a:prstGeom prst="rect">
            <a:avLst/>
          </a:prstGeom>
        </p:spPr>
        <p:txBody>
          <a:bodyPr wrap="square">
            <a:spAutoFit/>
          </a:bodyPr>
          <a:lstStyle/>
          <a:p>
            <a:pPr marL="1828800"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CONCLUSION</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3023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2392" y="1314541"/>
            <a:ext cx="10227213" cy="4613058"/>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Future enhancements to the food classification models could focus on improving accuracy in distinguishing visually similar food items. One approach would be to increase the diversity and size of the training dataset, incorporating more images to cover a wider range of food variations. Implementing advanced data augmentation techniques, such as rotation, flipping, and color adjustments, could help the model generalize better to different image conditions. Another potential enhancement is exploring more sophisticated architectures, such as Transformer-based models, which have shown great promise in image classification tasks. Additionally, the integration of transfer learning from pre-trained models like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or Vision Transformers (</a:t>
            </a:r>
            <a:r>
              <a:rPr lang="en-US" dirty="0" err="1">
                <a:latin typeface="Times New Roman" panose="02020603050405020304" pitchFamily="18" charset="0"/>
                <a:cs typeface="Times New Roman" panose="02020603050405020304" pitchFamily="18" charset="0"/>
              </a:rPr>
              <a:t>ViT</a:t>
            </a:r>
            <a:r>
              <a:rPr lang="en-US" dirty="0">
                <a:latin typeface="Times New Roman" panose="02020603050405020304" pitchFamily="18" charset="0"/>
                <a:cs typeface="Times New Roman" panose="02020603050405020304" pitchFamily="18" charset="0"/>
              </a:rPr>
              <a:t>) could lead to better performance, especially with limited labeled data. Attention mechanisms could also be employed to allow the model to focus on key regions of the image, improving its ability to differentiate between similar food items. Finally, incorporating multi-modal data, such as nutritional information, could provide a more comprehensive solution for food classification applications</a:t>
            </a:r>
          </a:p>
        </p:txBody>
      </p:sp>
      <p:sp>
        <p:nvSpPr>
          <p:cNvPr id="3" name="Rectangle 2"/>
          <p:cNvSpPr/>
          <p:nvPr/>
        </p:nvSpPr>
        <p:spPr>
          <a:xfrm>
            <a:off x="2140099" y="335609"/>
            <a:ext cx="7911801" cy="738664"/>
          </a:xfrm>
          <a:prstGeom prst="rect">
            <a:avLst/>
          </a:prstGeom>
        </p:spPr>
        <p:txBody>
          <a:bodyPr wrap="square">
            <a:spAutoFit/>
          </a:bodyPr>
          <a:lstStyle/>
          <a:p>
            <a:pPr marL="1828800"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FUTURE ENHANCEMENT</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556650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823099" y="1407788"/>
            <a:ext cx="10280755" cy="4480073"/>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1.      N. Karthikeyan et al., "A multi-model approach for food classification and volume estimation using deep learning," Scientific Reports (Nature), 2026. </a:t>
            </a:r>
            <a:r>
              <a:rPr lang="en-US" sz="1600" u="sng" dirty="0">
                <a:latin typeface="Times New Roman" panose="02020603050405020304" pitchFamily="18" charset="0"/>
                <a:cs typeface="Times New Roman" panose="02020603050405020304" pitchFamily="18" charset="0"/>
                <a:hlinkClick r:id="rId2"/>
              </a:rPr>
              <a:t>https://pmc.ncbi.nlm.nih.gov/articles/PMC12828019</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2.      P. Ma et al., "Deep learning accurately predicts food categories and nutritional values," Food Chemistry, 2022. </a:t>
            </a:r>
            <a:r>
              <a:rPr lang="en-US" sz="1600" u="sng" dirty="0">
                <a:latin typeface="Times New Roman" panose="02020603050405020304" pitchFamily="18" charset="0"/>
                <a:cs typeface="Times New Roman" panose="02020603050405020304" pitchFamily="18" charset="0"/>
                <a:hlinkClick r:id="rId3"/>
              </a:rPr>
              <a:t>https://doi.org/10.1016/j.foodchem.2022.133XXX</a:t>
            </a:r>
            <a:r>
              <a:rPr lang="en-US" sz="1600" dirty="0">
                <a:latin typeface="Times New Roman" panose="02020603050405020304" pitchFamily="18" charset="0"/>
                <a:cs typeface="Times New Roman" panose="02020603050405020304" pitchFamily="18" charset="0"/>
              </a:rPr>
              <a:t> (or </a:t>
            </a:r>
            <a:r>
              <a:rPr lang="en-US" sz="1600" u="sng" dirty="0">
                <a:latin typeface="Times New Roman" panose="02020603050405020304" pitchFamily="18" charset="0"/>
                <a:cs typeface="Times New Roman" panose="02020603050405020304" pitchFamily="18" charset="0"/>
                <a:hlinkClick r:id="rId4"/>
              </a:rPr>
              <a:t>https://www.sciencedirect.com/science/article/abs/pii/S0308814622012055</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3.      D. Liu et al., "Deep Learning in Food Image Recognition: A Comprehensive Review," Applied Sciences, 15(14), 7626, 2025. </a:t>
            </a:r>
            <a:r>
              <a:rPr lang="en-US" sz="1600" u="sng" dirty="0">
                <a:latin typeface="Times New Roman" panose="02020603050405020304" pitchFamily="18" charset="0"/>
                <a:cs typeface="Times New Roman" panose="02020603050405020304" pitchFamily="18" charset="0"/>
                <a:hlinkClick r:id="rId5"/>
              </a:rPr>
              <a:t>https://doi.org/10.3390/app15147626</a:t>
            </a:r>
            <a:r>
              <a:rPr lang="en-US" sz="1600" dirty="0">
                <a:latin typeface="Times New Roman" panose="02020603050405020304" pitchFamily="18" charset="0"/>
                <a:cs typeface="Times New Roman" panose="02020603050405020304" pitchFamily="18" charset="0"/>
              </a:rPr>
              <a:t> (or </a:t>
            </a:r>
            <a:r>
              <a:rPr lang="en-US" sz="1600" u="sng" dirty="0">
                <a:latin typeface="Times New Roman" panose="02020603050405020304" pitchFamily="18" charset="0"/>
                <a:cs typeface="Times New Roman" panose="02020603050405020304" pitchFamily="18" charset="0"/>
                <a:hlinkClick r:id="rId6"/>
              </a:rPr>
              <a:t>https://www.mdpi.com/2076-3417/15/14/7626</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4.      R. Bianco et al., "2D Prediction of the Nutritional Composition of Dishes from Food Images: Deep Learning Algorithm Selection and Data Curation," Nutrients (or similar), 2025. </a:t>
            </a:r>
            <a:r>
              <a:rPr lang="en-US" sz="1600" u="sng" dirty="0">
                <a:latin typeface="Times New Roman" panose="02020603050405020304" pitchFamily="18" charset="0"/>
                <a:cs typeface="Times New Roman" panose="02020603050405020304" pitchFamily="18" charset="0"/>
                <a:hlinkClick r:id="rId7"/>
              </a:rPr>
              <a:t>https://pmc.ncbi.nlm.nih.gov/articles/PMC12252204</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5.      A. Diwakar et al., "Deep Learning-Based Nutritional Analysis of Food Images Using EfficientNetB4 and Multilayer Perceptron," </a:t>
            </a:r>
            <a:r>
              <a:rPr lang="en-US" sz="1600" dirty="0" err="1">
                <a:latin typeface="Times New Roman" panose="02020603050405020304" pitchFamily="18" charset="0"/>
                <a:cs typeface="Times New Roman" panose="02020603050405020304" pitchFamily="18" charset="0"/>
              </a:rPr>
              <a:t>Cureus</a:t>
            </a:r>
            <a:r>
              <a:rPr lang="en-US" sz="1600" dirty="0">
                <a:latin typeface="Times New Roman" panose="02020603050405020304" pitchFamily="18" charset="0"/>
                <a:cs typeface="Times New Roman" panose="02020603050405020304" pitchFamily="18" charset="0"/>
              </a:rPr>
              <a:t> Journals, 2025. </a:t>
            </a:r>
            <a:r>
              <a:rPr lang="en-US" sz="1600" u="sng" dirty="0">
                <a:latin typeface="Times New Roman" panose="02020603050405020304" pitchFamily="18" charset="0"/>
                <a:cs typeface="Times New Roman" panose="02020603050405020304" pitchFamily="18" charset="0"/>
                <a:hlinkClick r:id="rId8"/>
              </a:rPr>
              <a:t>https://www.cureusjournals.com/articles/9841-deep-learning-based-nutritional-analysis-of-food-images-using-efficientnetb4-and-multilayer-perceptron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533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999561" y="974172"/>
            <a:ext cx="9503764" cy="558806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6.      S. </a:t>
            </a:r>
            <a:r>
              <a:rPr lang="en-US" sz="1600" dirty="0" err="1">
                <a:latin typeface="Times New Roman" panose="02020603050405020304" pitchFamily="18" charset="0"/>
                <a:cs typeface="Times New Roman" panose="02020603050405020304" pitchFamily="18" charset="0"/>
              </a:rPr>
              <a:t>Badonia</a:t>
            </a:r>
            <a:r>
              <a:rPr lang="en-US" sz="1600" dirty="0">
                <a:latin typeface="Times New Roman" panose="02020603050405020304" pitchFamily="18" charset="0"/>
                <a:cs typeface="Times New Roman" panose="02020603050405020304" pitchFamily="18" charset="0"/>
              </a:rPr>
              <a:t> et al., "Deep learning approach for automated food image analysis using </a:t>
            </a:r>
            <a:r>
              <a:rPr lang="en-US" sz="1600" dirty="0" err="1">
                <a:latin typeface="Times New Roman" panose="02020603050405020304" pitchFamily="18" charset="0"/>
                <a:cs typeface="Times New Roman" panose="02020603050405020304" pitchFamily="18" charset="0"/>
              </a:rPr>
              <a:t>SqueezeNet</a:t>
            </a:r>
            <a:r>
              <a:rPr lang="en-US" sz="1600" dirty="0">
                <a:latin typeface="Times New Roman" panose="02020603050405020304" pitchFamily="18" charset="0"/>
                <a:cs typeface="Times New Roman" panose="02020603050405020304" pitchFamily="18" charset="0"/>
              </a:rPr>
              <a:t> and VGG-16," International Journal of Research in Engineering Sciences and Management, 2024. </a:t>
            </a:r>
            <a:r>
              <a:rPr lang="en-US" sz="1600" u="sng" dirty="0">
                <a:latin typeface="Times New Roman" panose="02020603050405020304" pitchFamily="18" charset="0"/>
                <a:cs typeface="Times New Roman" panose="02020603050405020304" pitchFamily="18" charset="0"/>
                <a:hlinkClick r:id="rId2"/>
              </a:rPr>
              <a:t>https://ijresm.in/5.%20IJRESM240101013.pdf</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7.      U. S. </a:t>
            </a:r>
            <a:r>
              <a:rPr lang="en-US" sz="1600" dirty="0" err="1">
                <a:latin typeface="Times New Roman" panose="02020603050405020304" pitchFamily="18" charset="0"/>
                <a:cs typeface="Times New Roman" panose="02020603050405020304" pitchFamily="18" charset="0"/>
              </a:rPr>
              <a:t>Jakka</a:t>
            </a:r>
            <a:r>
              <a:rPr lang="en-US" sz="1600" dirty="0">
                <a:latin typeface="Times New Roman" panose="02020603050405020304" pitchFamily="18" charset="0"/>
                <a:cs typeface="Times New Roman" panose="02020603050405020304" pitchFamily="18" charset="0"/>
              </a:rPr>
              <a:t> et al., "Automated food image classification using deep learning approach with </a:t>
            </a:r>
            <a:r>
              <a:rPr lang="en-US" sz="1600" dirty="0" err="1">
                <a:latin typeface="Times New Roman" panose="02020603050405020304" pitchFamily="18" charset="0"/>
                <a:cs typeface="Times New Roman" panose="02020603050405020304" pitchFamily="18" charset="0"/>
              </a:rPr>
              <a:t>SqueezeNet</a:t>
            </a:r>
            <a:r>
              <a:rPr lang="en-US" sz="1600" dirty="0">
                <a:latin typeface="Times New Roman" panose="02020603050405020304" pitchFamily="18" charset="0"/>
                <a:cs typeface="Times New Roman" panose="02020603050405020304" pitchFamily="18" charset="0"/>
              </a:rPr>
              <a:t> and VGG-16," International Research Journal of Engineering and Technology, 2022. </a:t>
            </a:r>
            <a:r>
              <a:rPr lang="en-US" sz="1600" u="sng" dirty="0">
                <a:latin typeface="Times New Roman" panose="02020603050405020304" pitchFamily="18" charset="0"/>
                <a:cs typeface="Times New Roman" panose="02020603050405020304" pitchFamily="18" charset="0"/>
                <a:hlinkClick r:id="rId3"/>
              </a:rPr>
              <a:t>https://www.irjweb.com/user_upload/AUTOMATED%20FOOD%20IMAGE%20CLASSIFICATION%20USING%20DEEP%20LEARNING%20APPROACH.pdf</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8.      R. U. Haque et al., "Lightweight and Parameter-Optimized Real-Time Food Calorie Estimation from Images Using CNN-Based Approach," Applied Sciences, 12(19), 9733, 2022. </a:t>
            </a:r>
            <a:r>
              <a:rPr lang="en-US" sz="1600" u="sng" dirty="0">
                <a:latin typeface="Times New Roman" panose="02020603050405020304" pitchFamily="18" charset="0"/>
                <a:cs typeface="Times New Roman" panose="02020603050405020304" pitchFamily="18" charset="0"/>
                <a:hlinkClick r:id="rId4"/>
              </a:rPr>
              <a:t>https://doi.org/10.3390/app12199733</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9.      K. V. </a:t>
            </a:r>
            <a:r>
              <a:rPr lang="en-US" sz="1600" dirty="0" err="1">
                <a:latin typeface="Times New Roman" panose="02020603050405020304" pitchFamily="18" charset="0"/>
                <a:cs typeface="Times New Roman" panose="02020603050405020304" pitchFamily="18" charset="0"/>
              </a:rPr>
              <a:t>Dalakleidi</a:t>
            </a:r>
            <a:r>
              <a:rPr lang="en-US" sz="1600" dirty="0">
                <a:latin typeface="Times New Roman" panose="02020603050405020304" pitchFamily="18" charset="0"/>
                <a:cs typeface="Times New Roman" panose="02020603050405020304" pitchFamily="18" charset="0"/>
              </a:rPr>
              <a:t> et al., "Applying Image-Based Food-Recognition Systems on Dietary Assessment: A Systematic Review," Journal of the American Nutrition Association (or similar), 2022. </a:t>
            </a:r>
            <a:r>
              <a:rPr lang="en-US" sz="1600" u="sng" dirty="0">
                <a:latin typeface="Times New Roman" panose="02020603050405020304" pitchFamily="18" charset="0"/>
                <a:cs typeface="Times New Roman" panose="02020603050405020304" pitchFamily="18" charset="0"/>
                <a:hlinkClick r:id="rId5"/>
              </a:rPr>
              <a:t>https://doi.org/10.1016/j.jand.2022.XX</a:t>
            </a:r>
            <a:r>
              <a:rPr lang="en-US" sz="1600" dirty="0">
                <a:latin typeface="Times New Roman" panose="02020603050405020304" pitchFamily="18" charset="0"/>
                <a:cs typeface="Times New Roman" panose="02020603050405020304" pitchFamily="18" charset="0"/>
              </a:rPr>
              <a:t> (or </a:t>
            </a:r>
            <a:r>
              <a:rPr lang="en-US" sz="1600" u="sng" dirty="0">
                <a:latin typeface="Times New Roman" panose="02020603050405020304" pitchFamily="18" charset="0"/>
                <a:cs typeface="Times New Roman" panose="02020603050405020304" pitchFamily="18" charset="0"/>
                <a:hlinkClick r:id="rId6"/>
              </a:rPr>
              <a:t>https://www.sciencedirect.com/science/article/pii/S2161831323000935</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10.      X.-Y. Kong et al., "Food Calorie Estimation System Based on Semantic Segmentation Network," Sensors and Materials, 35(6), 2013–2033, 2023. </a:t>
            </a:r>
            <a:r>
              <a:rPr lang="en-US" sz="1600" u="sng" dirty="0">
                <a:latin typeface="Times New Roman" panose="02020603050405020304" pitchFamily="18" charset="0"/>
                <a:cs typeface="Times New Roman" panose="02020603050405020304" pitchFamily="18" charset="0"/>
                <a:hlinkClick r:id="rId7"/>
              </a:rPr>
              <a:t>https://doi.org/10.18494/SAM4061</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6637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8021C4-C09C-40CD-A212-D0FBF66EFC74}"/>
              </a:ext>
            </a:extLst>
          </p:cNvPr>
          <p:cNvSpPr/>
          <p:nvPr/>
        </p:nvSpPr>
        <p:spPr>
          <a:xfrm>
            <a:off x="1066800" y="706973"/>
            <a:ext cx="9713842" cy="544405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11.      M. </a:t>
            </a:r>
            <a:r>
              <a:rPr lang="en-US" dirty="0" err="1">
                <a:latin typeface="Times New Roman" panose="02020603050405020304" pitchFamily="18" charset="0"/>
                <a:cs typeface="Times New Roman" panose="02020603050405020304" pitchFamily="18" charset="0"/>
              </a:rPr>
              <a:t>Sah</a:t>
            </a:r>
            <a:r>
              <a:rPr lang="en-US" dirty="0">
                <a:latin typeface="Times New Roman" panose="02020603050405020304" pitchFamily="18" charset="0"/>
                <a:cs typeface="Times New Roman" panose="02020603050405020304" pitchFamily="18" charset="0"/>
              </a:rPr>
              <a:t> et al., "Retrieval augmented generation for smart calorie estimation in complex food scenarios," Journal of Visual Communication and Image Representation, 2025. </a:t>
            </a:r>
            <a:r>
              <a:rPr lang="en-US" u="sng" dirty="0">
                <a:latin typeface="Times New Roman" panose="02020603050405020304" pitchFamily="18" charset="0"/>
                <a:cs typeface="Times New Roman" panose="02020603050405020304" pitchFamily="18" charset="0"/>
                <a:hlinkClick r:id="rId2"/>
              </a:rPr>
              <a:t>https://doi.org/10.1016/j.jvcir.2025.XX</a:t>
            </a:r>
            <a:r>
              <a:rPr lang="en-US" dirty="0">
                <a:latin typeface="Times New Roman" panose="02020603050405020304" pitchFamily="18" charset="0"/>
                <a:cs typeface="Times New Roman" panose="02020603050405020304" pitchFamily="18" charset="0"/>
              </a:rPr>
              <a:t> (or </a:t>
            </a:r>
            <a:r>
              <a:rPr lang="en-US" u="sng" dirty="0">
                <a:latin typeface="Times New Roman" panose="02020603050405020304" pitchFamily="18" charset="0"/>
                <a:cs typeface="Times New Roman" panose="02020603050405020304" pitchFamily="18" charset="0"/>
                <a:hlinkClick r:id="rId3"/>
              </a:rPr>
              <a:t>https://www.sciencedirect.com/science/article/abs/pii/S1047320325002469</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12.      Reddy, U.K. et al., "Automated food classification system using deep learning techniques with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and VGG-16 models," (Relevant conference/journal on real-time healthcare), 2022.</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13.      </a:t>
            </a:r>
            <a:r>
              <a:rPr lang="en-US" dirty="0" err="1">
                <a:latin typeface="Times New Roman" panose="02020603050405020304" pitchFamily="18" charset="0"/>
                <a:cs typeface="Times New Roman" panose="02020603050405020304" pitchFamily="18" charset="0"/>
              </a:rPr>
              <a:t>Samundi</a:t>
            </a:r>
            <a:r>
              <a:rPr lang="en-US" dirty="0">
                <a:latin typeface="Times New Roman" panose="02020603050405020304" pitchFamily="18" charset="0"/>
                <a:cs typeface="Times New Roman" panose="02020603050405020304" pitchFamily="18" charset="0"/>
              </a:rPr>
              <a:t>, R. &amp; G. S., "Automated Food Prediction Using Deep Learning with </a:t>
            </a:r>
            <a:r>
              <a:rPr lang="en-US" dirty="0" err="1">
                <a:latin typeface="Times New Roman" panose="02020603050405020304" pitchFamily="18" charset="0"/>
                <a:cs typeface="Times New Roman" panose="02020603050405020304" pitchFamily="18" charset="0"/>
              </a:rPr>
              <a:t>SqueezeNet</a:t>
            </a:r>
            <a:r>
              <a:rPr lang="en-US" dirty="0">
                <a:latin typeface="Times New Roman" panose="02020603050405020304" pitchFamily="18" charset="0"/>
                <a:cs typeface="Times New Roman" panose="02020603050405020304" pitchFamily="18" charset="0"/>
              </a:rPr>
              <a:t> and VGG-19 for Calorie Estimation," IRE Journals, 2024. </a:t>
            </a:r>
            <a:r>
              <a:rPr lang="en-US" u="sng" dirty="0">
                <a:latin typeface="Times New Roman" panose="02020603050405020304" pitchFamily="18" charset="0"/>
                <a:cs typeface="Times New Roman" panose="02020603050405020304" pitchFamily="18" charset="0"/>
                <a:hlinkClick r:id="rId4"/>
              </a:rPr>
              <a:t>https://www.irejournals.com/formatedpaper/1705602.pdf</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14.      Zhang, Y. et al., "Deep learning in food category recognition: A survey," Information Fusion, 2023.</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15.      Mohanty, S.P. et al., "The Food Recognition Benchmark: Using Deep Learning on </a:t>
            </a:r>
            <a:r>
              <a:rPr lang="en-US" dirty="0" err="1">
                <a:latin typeface="Times New Roman" panose="02020603050405020304" pitchFamily="18" charset="0"/>
                <a:cs typeface="Times New Roman" panose="02020603050405020304" pitchFamily="18" charset="0"/>
              </a:rPr>
              <a:t>MyFoodRepo</a:t>
            </a:r>
            <a:r>
              <a:rPr lang="en-US" dirty="0">
                <a:latin typeface="Times New Roman" panose="02020603050405020304" pitchFamily="18" charset="0"/>
                <a:cs typeface="Times New Roman" panose="02020603050405020304" pitchFamily="18" charset="0"/>
              </a:rPr>
              <a:t> Dataset," Frontiers in Nutrition, 2022.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383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E6AB65-4F14-4D6A-A64B-FE0DACAF73F3}"/>
              </a:ext>
            </a:extLst>
          </p:cNvPr>
          <p:cNvSpPr txBox="1"/>
          <p:nvPr/>
        </p:nvSpPr>
        <p:spPr>
          <a:xfrm>
            <a:off x="2683565" y="2488985"/>
            <a:ext cx="6824870" cy="1323439"/>
          </a:xfrm>
          <a:prstGeom prst="rect">
            <a:avLst/>
          </a:prstGeom>
          <a:noFill/>
        </p:spPr>
        <p:txBody>
          <a:bodyPr wrap="square" rtlCol="0">
            <a:spAutoFit/>
          </a:bodyPr>
          <a:lstStyle/>
          <a:p>
            <a:r>
              <a:rPr lang="en-US" sz="8000" dirty="0">
                <a:solidFill>
                  <a:srgbClr val="92D050"/>
                </a:solidFill>
                <a:latin typeface="Arial Rounded MT Bold" panose="020F0704030504030204" pitchFamily="34" charset="0"/>
              </a:rPr>
              <a:t>Thank you</a:t>
            </a:r>
            <a:endParaRPr lang="en-IN" sz="8000" dirty="0">
              <a:solidFill>
                <a:srgbClr val="92D050"/>
              </a:solidFill>
              <a:latin typeface="Arial Rounded MT Bold" panose="020F0704030504030204" pitchFamily="34" charset="0"/>
            </a:endParaRPr>
          </a:p>
        </p:txBody>
      </p:sp>
    </p:spTree>
    <p:extLst>
      <p:ext uri="{BB962C8B-B14F-4D97-AF65-F5344CB8AC3E}">
        <p14:creationId xmlns:p14="http://schemas.microsoft.com/office/powerpoint/2010/main" val="36535060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3599</TotalTime>
  <Words>5084</Words>
  <Application>Microsoft Office PowerPoint</Application>
  <PresentationFormat>Widescreen</PresentationFormat>
  <Paragraphs>218</Paragraphs>
  <Slides>46</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メイリオ</vt:lpstr>
      <vt:lpstr>Arial</vt:lpstr>
      <vt:lpstr>Arial Rounded MT Bold</vt:lpstr>
      <vt:lpstr>Calibri</vt:lpstr>
      <vt:lpstr>Poppins</vt:lpstr>
      <vt:lpstr>Poppins Black</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Requirements</vt:lpstr>
      <vt:lpstr>RESEARCH GAP ANALYSIS</vt:lpstr>
      <vt:lpstr>PowerPoint Presentation</vt:lpstr>
      <vt:lpstr>PowerPoint Presentation</vt:lpstr>
      <vt:lpstr>PowerPoint Presentation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 S Jashvitha Sai</dc:creator>
  <cp:lastModifiedBy>Chinthala Supriya</cp:lastModifiedBy>
  <cp:revision>921</cp:revision>
  <dcterms:created xsi:type="dcterms:W3CDTF">2023-10-04T10:29:15Z</dcterms:created>
  <dcterms:modified xsi:type="dcterms:W3CDTF">2026-03-18T07:53:55Z</dcterms:modified>
</cp:coreProperties>
</file>